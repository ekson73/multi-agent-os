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5200">
                <a:solidFill>
                  <a:srgbClr val="FFFFFF"/>
                </a:solidFill>
                <a:latin typeface="Cambria"/>
              </a:rPr>
              <a:t>Agentic MoE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3000">
                <a:solidFill>
                  <a:srgbClr val="B0C4DE"/>
                </a:solidFill>
                <a:latin typeface="Calibri"/>
              </a:rPr>
              <a:t>Landscape &amp; Hub Orquestrador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600">
                <a:solidFill>
                  <a:srgbClr val="8A99AA"/>
                </a:solidFill>
                <a:latin typeface="Calibri"/>
              </a:rPr>
              <a:t>Sintese das Fases 0-3 · 26 experts mapeados · Mixture-of-Experts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800">
                <a:solidFill>
                  <a:srgbClr val="FFFFFF"/>
                </a:solidFill>
                <a:latin typeface="Calibri"/>
              </a:rPr>
              <a:t>Emilson Moraes (ekson73)  ·  Vek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500">
                <a:solidFill>
                  <a:srgbClr val="8A99AA"/>
                </a:solidFill>
                <a:latin typeface="Calibri"/>
              </a:rPr>
              <a:t>2026-06-27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914400"/>
            <a:ext cx="2194560" cy="4114800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46920" y="105156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300">
                <a:solidFill>
                  <a:srgbClr val="FFFFFF"/>
                </a:solidFill>
                <a:latin typeface="Courier New"/>
              </a:rPr>
              <a:t>research/
agentic-moe-
2026/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2800">
                <a:solidFill>
                  <a:srgbClr val="FFFFFF"/>
                </a:solidFill>
                <a:latin typeface="Calibri"/>
              </a:rPr>
              <a:t>O ecossistema nao tem vencedor — e uma STACK roteada como MoE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Emilson Moraes (ekson73) · Vek · 2026-06-27 · Agentic MoE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3566160" cy="4754880"/>
          </a:xfrm>
          <a:prstGeom prst="rect">
            <a:avLst/>
          </a:prstGeom>
          <a:solidFill>
            <a:srgbClr val="E8EFF9"/>
          </a:solidFill>
          <a:ln w="1524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600">
                <a:solidFill>
                  <a:srgbClr val="2456A6"/>
                </a:solidFill>
                <a:latin typeface="Calibri"/>
              </a:rPr>
              <a:t>Camadas por PAPEL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64792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>
                <a:solidFill>
                  <a:srgbClr val="1A2330"/>
                </a:solidFill>
                <a:latin typeface="Calibri"/>
              </a:rPr>
              <a:t>L0 Guardrails · L8 Memory · L9 Observability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>
                <a:solidFill>
                  <a:srgbClr val="1A2330"/>
                </a:solidFill>
                <a:latin typeface="Calibri"/>
              </a:rPr>
              <a:t>L4 Codebase · L5 PKM (conhecimento)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>
                <a:solidFill>
                  <a:srgbClr val="1A2330"/>
                </a:solidFill>
                <a:latin typeface="Calibri"/>
              </a:rPr>
              <a:t>L1 Spec -&gt; L2 Workflow -&gt; L6 Design -&gt; L7 Slides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>
                <a:solidFill>
                  <a:srgbClr val="1A2330"/>
                </a:solidFill>
                <a:latin typeface="Calibri"/>
              </a:rPr>
              <a:t>L3 Amplificador (opcional, caro)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7368" y="1170432"/>
            <a:ext cx="3566160" cy="4754880"/>
          </a:xfrm>
          <a:prstGeom prst="rect">
            <a:avLst/>
          </a:prstGeom>
          <a:solidFill>
            <a:srgbClr val="E8EFF9"/>
          </a:solidFill>
          <a:ln w="1524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600">
                <a:solidFill>
                  <a:srgbClr val="2456A6"/>
                </a:solidFill>
                <a:latin typeface="Calibri"/>
              </a:rPr>
              <a:t>Roteamento MoE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764792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>
                <a:solidFill>
                  <a:srgbClr val="1A2330"/>
                </a:solidFill>
                <a:latin typeface="Calibri"/>
              </a:rPr>
              <a:t>Substratos: ALWAYS-ON (densos, residual somado)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>
                <a:solidFill>
                  <a:srgbClr val="1A2330"/>
                </a:solidFill>
                <a:latin typeface="Calibri"/>
              </a:rPr>
              <a:t>Pipeline: top-1 esparso por slot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>
                <a:solidFill>
                  <a:srgbClr val="1A2330"/>
                </a:solidFill>
                <a:latin typeface="Calibri"/>
              </a:rPr>
              <a:t>Experts concorrentes numa camada NAO convergem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>
                <a:solidFill>
                  <a:srgbClr val="1A2330"/>
                </a:solidFill>
                <a:latin typeface="Calibri"/>
              </a:rPr>
              <a:t>L3 so dispara em alta ambiguidade/paralelizacao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54696" y="1170432"/>
            <a:ext cx="3566160" cy="4754880"/>
          </a:xfrm>
          <a:prstGeom prst="rect">
            <a:avLst/>
          </a:prstGeom>
          <a:solidFill>
            <a:srgbClr val="E8EFF9"/>
          </a:solidFill>
          <a:ln w="1524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91856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600">
                <a:solidFill>
                  <a:srgbClr val="2456A6"/>
                </a:solidFill>
                <a:latin typeface="Calibri"/>
              </a:rPr>
              <a:t>Implicacao de decisao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1764792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>
                <a:solidFill>
                  <a:srgbClr val="1A2330"/>
                </a:solidFill>
                <a:latin typeface="Calibri"/>
              </a:rPr>
              <a:t>Escolha 1 expert por slot — empilhar 2 rompe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>
                <a:solidFill>
                  <a:srgbClr val="1A2330"/>
                </a:solidFill>
                <a:latin typeface="Calibri"/>
              </a:rPr>
              <a:t>Gate de supply-chain e parte da tese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>
                <a:solidFill>
                  <a:srgbClr val="1A2330"/>
                </a:solidFill>
                <a:latin typeface="Calibri"/>
              </a:rPr>
              <a:t>Estrelas = sinal de magnitude, nao precisao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500">
                <a:solidFill>
                  <a:srgbClr val="1A2330"/>
                </a:solidFill>
                <a:latin typeface="Calibri"/>
              </a:rPr>
              <a:t>Hub = gating network simbolico-estratificado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2800">
                <a:solidFill>
                  <a:srgbClr val="FFFFFF"/>
                </a:solidFill>
                <a:latin typeface="Calibri"/>
              </a:rPr>
              <a:t>O mapa: tres substratos sempre ativos + pipeline ordenada + amplificador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Emilson Moraes (ekson73) · Vek · 2026-06-27 · Agentic MoE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1548872" cy="858012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07008"/>
            <a:ext cx="347472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300">
                <a:solidFill>
                  <a:srgbClr val="FFFFFF"/>
                </a:solidFill>
                <a:latin typeface="Calibri"/>
              </a:rPr>
              <a:t>L3 — AMPLIFICADOR (opcional)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207008"/>
            <a:ext cx="384048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D0E4FF"/>
                </a:solidFill>
                <a:latin typeface="Calibri"/>
              </a:rPr>
              <a:t>ruflo · bmad-method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207008"/>
            <a:ext cx="402336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CCDDEE"/>
                </a:solidFill>
                <a:latin typeface="Calibri"/>
              </a:rPr>
              <a:t>Meta-routing, swarm, persona-handoff — so em alta ambiguidade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65020"/>
            <a:ext cx="11548872" cy="858012"/>
          </a:xfrm>
          <a:prstGeom prst="rect">
            <a:avLst/>
          </a:prstGeom>
          <a:solidFill>
            <a:srgbClr val="34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101596"/>
            <a:ext cx="347472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300">
                <a:solidFill>
                  <a:srgbClr val="FFFFFF"/>
                </a:solidFill>
                <a:latin typeface="Calibri"/>
              </a:rPr>
              <a:t>L1-&gt;L2-&gt;L6-&gt;L7 —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101596"/>
            <a:ext cx="384048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D0E4FF"/>
                </a:solidFill>
                <a:latin typeface="Calibri"/>
              </a:rPr>
              <a:t>spec · workflow · design ·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101596"/>
            <a:ext cx="402336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CCDDEE"/>
                </a:solidFill>
                <a:latin typeface="Calibri"/>
              </a:rPr>
              <a:t>Esteira ordenada; top-1 esparso por slot (exclusivos intra-camada)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59608"/>
            <a:ext cx="11548872" cy="858012"/>
          </a:xfrm>
          <a:prstGeom prst="rect">
            <a:avLst/>
          </a:prstGeom>
          <a:solidFill>
            <a:srgbClr val="45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996184"/>
            <a:ext cx="347472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300">
                <a:solidFill>
                  <a:srgbClr val="FFFFFF"/>
                </a:solidFill>
                <a:latin typeface="Calibri"/>
              </a:rPr>
              <a:t>L4/L5 — CONHECIMENTO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996184"/>
            <a:ext cx="384048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D0E4FF"/>
                </a:solidFill>
                <a:latin typeface="Calibri"/>
              </a:rPr>
              <a:t>graphify · understand-anything · obsidian-skills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2996184"/>
            <a:ext cx="402336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CCDDEE"/>
                </a:solidFill>
                <a:latin typeface="Calibri"/>
              </a:rPr>
              <a:t>Consultado antes de especificar; grafo de codebase + PKM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54196"/>
            <a:ext cx="11548872" cy="858012"/>
          </a:xfrm>
          <a:prstGeom prst="rect">
            <a:avLst/>
          </a:prstGeom>
          <a:solidFill>
            <a:srgbClr val="1A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890772"/>
            <a:ext cx="347472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300">
                <a:solidFill>
                  <a:srgbClr val="FFFFFF"/>
                </a:solidFill>
                <a:latin typeface="Calibri"/>
              </a:rPr>
              <a:t>L9 — OBSERVABILITY  (always-on)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890772"/>
            <a:ext cx="384048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D0E4FF"/>
                </a:solidFill>
                <a:latin typeface="Calibri"/>
              </a:rPr>
              <a:t>langfuse (default)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3890772"/>
            <a:ext cx="402336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CCDDEE"/>
                </a:solidFill>
                <a:latin typeface="Calibri"/>
              </a:rPr>
              <a:t>OTel-native tracing + evals + datasets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748784"/>
            <a:ext cx="11548872" cy="858012"/>
          </a:xfrm>
          <a:prstGeom prst="rect">
            <a:avLst/>
          </a:prstGeom>
          <a:solidFill>
            <a:srgbClr val="15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4785360"/>
            <a:ext cx="347472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300">
                <a:solidFill>
                  <a:srgbClr val="FFFFFF"/>
                </a:solidFill>
                <a:latin typeface="Calibri"/>
              </a:rPr>
              <a:t>L8 — MEMORY  (always-on)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785360"/>
            <a:ext cx="384048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D0E4FF"/>
                </a:solidFill>
                <a:latin typeface="Calibri"/>
              </a:rPr>
              <a:t>mem0 (default) · graphiti · cognee · letta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4785360"/>
            <a:ext cx="402336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CCDDEE"/>
                </a:solidFill>
                <a:latin typeface="Calibri"/>
              </a:rPr>
              <a:t>Persistencia cross-session; tiered; learning-loop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643372"/>
            <a:ext cx="11548872" cy="858012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5679948"/>
            <a:ext cx="347472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300">
                <a:solidFill>
                  <a:srgbClr val="FFFFFF"/>
                </a:solidFill>
                <a:latin typeface="Calibri"/>
              </a:rPr>
              <a:t>L0 — GUARDRAILS  (always-on)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5679948"/>
            <a:ext cx="384048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D0E4FF"/>
                </a:solidFill>
                <a:latin typeface="Calibri"/>
              </a:rPr>
              <a:t>karpathy-claude-md · AgentShield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5679948"/>
            <a:ext cx="4023360" cy="82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CCDDEE"/>
                </a:solidFill>
                <a:latin typeface="Calibri"/>
              </a:rPr>
              <a:t>Deliberacao antes de agir; supply-chain gate PreToolUse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2800">
                <a:solidFill>
                  <a:srgbClr val="FFFFFF"/>
                </a:solidFill>
                <a:latin typeface="Calibri"/>
              </a:rPr>
              <a:t>Os 26 experts INCLUDED: nome-ancora por camada + magnitude de estrelas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Emilson Moraes (ekson73) · Vek · 2026-06-27 · Agentic MoE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1548872" cy="347472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FFFFFF"/>
                </a:solidFill>
                <a:latin typeface="Calibri"/>
              </a:rPr>
              <a:t>Camada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2070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FFFFFF"/>
                </a:solidFill>
                <a:latin typeface="Calibri"/>
              </a:rPr>
              <a:t>Papel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2070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FFFFFF"/>
                </a:solidFill>
                <a:latin typeface="Calibri"/>
              </a:rPr>
              <a:t>Expert(s)-ancora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2070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FFFFFF"/>
                </a:solidFill>
                <a:latin typeface="Calibri"/>
              </a:rPr>
              <a:t>Estrelas 2026-06-27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17904"/>
            <a:ext cx="11548872" cy="457200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5727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2456A6"/>
                </a:solidFill>
                <a:latin typeface="Calibri"/>
              </a:rPr>
              <a:t>L0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5727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572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karpathy-claude-md · AgentShield (ECC)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~154-183K* · ~188K* (ECC)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993392"/>
            <a:ext cx="11548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0482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2456A6"/>
                </a:solidFill>
                <a:latin typeface="Calibri"/>
              </a:rPr>
              <a:t>L8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04825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0482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mem0 (default) · letta · cognee · graphiti (BRIDGE)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04825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~58K* · ~23K* · ~17-23K* · ~27K*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68880"/>
            <a:ext cx="11548872" cy="457200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52374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2456A6"/>
                </a:solidFill>
                <a:latin typeface="Calibri"/>
              </a:rPr>
              <a:t>L9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5237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5237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langfuse (default)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52374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~28K*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944368"/>
            <a:ext cx="11548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99923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2456A6"/>
                </a:solidFill>
                <a:latin typeface="Calibri"/>
              </a:rPr>
              <a:t>L4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299923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Codebase Intel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29992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graphify · understand-anything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99923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~52.7K* · ~55-65K*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419856"/>
            <a:ext cx="11548872" cy="457200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4747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2456A6"/>
                </a:solidFill>
                <a:latin typeface="Calibri"/>
              </a:rPr>
              <a:t>L5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347472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PKM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3474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obsidian-skills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4747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~35K*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895344"/>
            <a:ext cx="11548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9502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2456A6"/>
                </a:solidFill>
                <a:latin typeface="Calibri"/>
              </a:rPr>
              <a:t>L1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39502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Spec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39502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spec-kit · openspec · gsd-core (fork seguro)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395020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~106K* · ~51K* · ~4.2K*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370832"/>
            <a:ext cx="11548872" cy="457200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42569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2456A6"/>
                </a:solidFill>
                <a:latin typeface="Calibri"/>
              </a:rPr>
              <a:t>L2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442569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Workflow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44256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superpowers · gstack · ECC · cli-anything · paul/carl/seed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442569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~147K* · ~101K* · ~188K* · ~42-44K*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846320"/>
            <a:ext cx="11548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90118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2456A6"/>
                </a:solidFill>
                <a:latin typeface="Calibri"/>
              </a:rPr>
              <a:t>L6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49011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Design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9011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open-design · open-codesign · impeccable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490118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~49K* · ~7K* · ~30K*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321808"/>
            <a:ext cx="11548872" cy="457200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37667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2456A6"/>
                </a:solidFill>
                <a:latin typeface="Calibri"/>
              </a:rPr>
              <a:t>L7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53766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Slides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0" y="53766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slidev · frontend-slides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53766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~47K* · ~19K*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797296"/>
            <a:ext cx="11548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58521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2456A6"/>
                </a:solidFill>
                <a:latin typeface="Calibri"/>
              </a:rPr>
              <a:t>L3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" y="58521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Amplifier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0" y="58521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ruflo · bmad-method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585216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~54-62K* · ~48-50K*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2362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1" sz="1000">
                <a:solidFill>
                  <a:srgbClr val="8A99AA"/>
                </a:solidFill>
                <a:latin typeface="Calibri"/>
              </a:rPr>
              <a:t>* = ordem de grandeza datada 2026-06-27 (valor de API); nao e precisao — tratado como sinal de magnitude.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2800">
                <a:solidFill>
                  <a:srgbClr val="FFFFFF"/>
                </a:solidFill>
                <a:latin typeface="Calibri"/>
              </a:rPr>
              <a:t>Gate de supply-chain: dois experts EXCLUIDOS — o gate e parte da tese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Emilson Moraes (ekson73) · Vek · 2026-06-27 · Agentic MoE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5532120" cy="4389120"/>
          </a:xfrm>
          <a:prstGeom prst="rect">
            <a:avLst/>
          </a:prstGeom>
          <a:solidFill>
            <a:srgbClr val="FFF0F0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500">
                <a:solidFill>
                  <a:srgbClr val="BB0000"/>
                </a:solidFill>
                <a:latin typeface="Calibri"/>
              </a:rPr>
              <a:t>GSD $GSD — EXCLUIDO (CONFIRMADO)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55648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gsd-build/get-shit-done · original ~63K*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Token Solana $GSD: rug-pull ~2026-04 (~US$500K)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Fundador 'TACHES' deletou contas; pacotes npm ORIGINAIS ainda publicados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Pacotes concedem acesso shell/bash profundo -&gt; risco de update malicioso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Substituto seguro: open-gsd/gsd-core (fork auditado, ~4.2K*)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207008"/>
            <a:ext cx="5897880" cy="4389120"/>
          </a:xfrm>
          <a:prstGeom prst="rect">
            <a:avLst/>
          </a:prstGeom>
          <a:solidFill>
            <a:srgbClr val="FFF5E6"/>
          </a:solidFill>
          <a:ln w="19050">
            <a:solidFill>
              <a:srgbClr val="CC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2984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500">
                <a:solidFill>
                  <a:srgbClr val="AA5500"/>
                </a:solidFill>
                <a:latin typeface="Calibri"/>
              </a:rPr>
              <a:t>MemPalace — EXCLUIDO/FLAGGED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55648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milla-jovovich/mempalace · ~42K* em ~2 meses (alegado)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Alegacao de compra de estrelas — nao auditada, NAO PROVADA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Benchmark '96.6% LongMemEval' — nao reproduzivel de forma independente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Exclusao por CAUTELA do gate, nao por fraude comprovada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Substituto: mem0 (benchmark memory-benchmarks reproduzivel)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779008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1" sz="1100">
                <a:solidFill>
                  <a:srgbClr val="8A99AA"/>
                </a:solidFill>
                <a:latin typeface="Calibri"/>
              </a:rPr>
              <a:t>Contexto: ~13% de pacotes agent-skill com vulns criticas [UNVERIFIED]. Isso fundamenta tratar 'velocidade de estrela' como sinal, nao prova.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2800">
                <a:solidFill>
                  <a:srgbClr val="FFFFFF"/>
                </a:solidFill>
                <a:latin typeface="Calibri"/>
              </a:rPr>
              <a:t>Honestidade epistemica: estrelas divergentes tratadas como ordem de grandeza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Emilson Moraes (ekson73) · Vek · 2026-06-27 · Agentic MoE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649224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2456A6"/>
                </a:solidFill>
                <a:latin typeface="Calibri"/>
              </a:rPr>
              <a:t>Divergencias reconciliadas (2026-06-27)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09928"/>
            <a:ext cx="6492240" cy="274320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2821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000">
                <a:solidFill>
                  <a:srgbClr val="FFFFFF"/>
                </a:solidFill>
                <a:latin typeface="Calibri"/>
              </a:rPr>
              <a:t>Expert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2821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000">
                <a:solidFill>
                  <a:srgbClr val="FFFFFF"/>
                </a:solidFill>
                <a:latin typeface="Calibri"/>
              </a:rPr>
              <a:t>Fontes divergentes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72821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000">
                <a:solidFill>
                  <a:srgbClr val="FFFFFF"/>
                </a:solidFill>
                <a:latin typeface="Calibri"/>
              </a:rPr>
              <a:t>Canonico adotado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84248"/>
            <a:ext cx="6492240" cy="649224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574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1A2330"/>
                </a:solidFill>
                <a:latin typeface="Calibri"/>
              </a:rPr>
              <a:t>ECC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057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~188K (API) x ~222K (busca) x '182K+' (README)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2456A6"/>
                </a:solidFill>
                <a:latin typeface="Calibri"/>
              </a:rPr>
              <a:t>Adotado: ~188K [sec]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51760"/>
            <a:ext cx="649224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72491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1A2330"/>
                </a:solidFill>
                <a:latin typeface="Calibri"/>
              </a:rPr>
              <a:t>superpowers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7249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~240K (v5) x ~147K (API)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7249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2456A6"/>
                </a:solidFill>
                <a:latin typeface="Calibri"/>
              </a:rPr>
              <a:t>Adotado: ~147K [sec]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319272"/>
            <a:ext cx="6492240" cy="649224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392424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1A2330"/>
                </a:solidFill>
                <a:latin typeface="Calibri"/>
              </a:rPr>
              <a:t>karpathy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39242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154K (API) x 183K (pagina)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39242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2456A6"/>
                </a:solidFill>
                <a:latin typeface="Calibri"/>
              </a:rPr>
              <a:t>Adotado: ~154-183K faixa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86784"/>
            <a:ext cx="649224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59936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1A2330"/>
                </a:solidFill>
                <a:latin typeface="Calibri"/>
              </a:rPr>
              <a:t>cognee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05993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17.4K (API) x 23.3K (pagina)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05993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2456A6"/>
                </a:solidFill>
                <a:latin typeface="Calibri"/>
              </a:rPr>
              <a:t>Adotado: ~17-23K faixa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54296"/>
            <a:ext cx="6492240" cy="649224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72744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1A2330"/>
                </a:solidFill>
                <a:latin typeface="Calibri"/>
              </a:rPr>
              <a:t>graphify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7274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52.7K (API) x ~69K (sec)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7274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2456A6"/>
                </a:solidFill>
                <a:latin typeface="Calibri"/>
              </a:rPr>
              <a:t>Adotado: ~52-57K faixa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321808"/>
            <a:ext cx="649224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394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200">
                <a:solidFill>
                  <a:srgbClr val="1A2330"/>
                </a:solidFill>
                <a:latin typeface="Calibri"/>
              </a:rPr>
              <a:t>ruflo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394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1A2330"/>
                </a:solidFill>
                <a:latin typeface="Calibri"/>
              </a:rPr>
              <a:t>54.6K (API) x 61.7K (pagina)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3949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2456A6"/>
                </a:solidFill>
                <a:latin typeface="Calibri"/>
              </a:rPr>
              <a:t>Adotado: ~54-62K faixa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1207008"/>
            <a:ext cx="4892040" cy="5029200"/>
          </a:xfrm>
          <a:prstGeom prst="rect">
            <a:avLst/>
          </a:prstGeom>
          <a:solidFill>
            <a:srgbClr val="E8EFF9"/>
          </a:solidFill>
          <a:ln w="1016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12984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2456A6"/>
                </a:solidFill>
                <a:latin typeface="Calibri"/>
              </a:rPr>
              <a:t>Principios adotados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Todo count e de 2026-06-27 — ordem-de-magnitude, nao precisao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Counts extraordinarios (ECC ~188K, spec-kit ~106K, superpowers ~147K) reportados sem editorializar mas sinalizados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Flags [sec]/[UNVERIFIED] herdadas das fases anteriores sao PRESERVADAS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Correcoes de licenca: BMAD=MIT (confirmado); karpathy=sem LICENSE file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1A2330"/>
                </a:solidFill>
                <a:latin typeface="Calibri"/>
              </a:rPr>
              <a:t>Repos rivalizando os maiores do GitHub em ~1 ano merecem ceticismo de magnitude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2800">
                <a:solidFill>
                  <a:srgbClr val="FFFFFF"/>
                </a:solidFill>
                <a:latin typeface="Calibri"/>
              </a:rPr>
              <a:t>3 incompatibilidades que importam: escolha UM por slot, nao empilhe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Emilson Moraes (ekson73) · Vek · 2026-06-27 · Agentic MoE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11548872" cy="1572768"/>
          </a:xfrm>
          <a:prstGeom prst="rect">
            <a:avLst/>
          </a:prstGeom>
          <a:solidFill>
            <a:srgbClr val="FFEDE8"/>
          </a:solidFill>
          <a:ln w="1016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44168"/>
            <a:ext cx="548640" cy="548640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44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2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2984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600">
                <a:solidFill>
                  <a:srgbClr val="2456A6"/>
                </a:solidFill>
                <a:latin typeface="Calibri"/>
              </a:rPr>
              <a:t>Instruction Layer (L2)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64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300">
                <a:solidFill>
                  <a:srgbClr val="1A2330"/>
                </a:solidFill>
                <a:latin typeface="Courier New"/>
              </a:rPr>
              <a:t>superpowers  x  gstack  x  ECC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344168"/>
            <a:ext cx="72237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400">
                <a:solidFill>
                  <a:srgbClr val="1A2330"/>
                </a:solidFill>
                <a:latin typeface="Calibri"/>
              </a:rPr>
              <a:t>Tres workflows 'mandatory' simultaneos -&gt; precedencia imprevisivel + context-fracture (ECC erode janela 200k-&gt;~70k). Escolher APENAS UM.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34640"/>
            <a:ext cx="11548872" cy="1572768"/>
          </a:xfrm>
          <a:prstGeom prst="rect">
            <a:avLst/>
          </a:prstGeom>
          <a:solidFill>
            <a:srgbClr val="FFF5E0"/>
          </a:solidFill>
          <a:ln w="1016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548640" cy="548640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2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26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600">
                <a:solidFill>
                  <a:srgbClr val="2456A6"/>
                </a:solidFill>
                <a:latin typeface="Calibri"/>
              </a:rPr>
              <a:t>Spec exclusiva (L1)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300">
                <a:solidFill>
                  <a:srgbClr val="1A2330"/>
                </a:solidFill>
                <a:latin typeface="Courier New"/>
              </a:rPr>
              <a:t>spec-kit  x  openspec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971800"/>
            <a:ext cx="72237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400">
                <a:solidFill>
                  <a:srgbClr val="1A2330"/>
                </a:solidFill>
                <a:latin typeface="Calibri"/>
              </a:rPr>
              <a:t>Modelos de spec mutuamente exclusivos — dois diretorios + duas convencoes no mesmo repo nao convergem. CTS resolve: openspec para brownfield (0.779), spec-kit para greenfield/compliance.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462272"/>
            <a:ext cx="11548872" cy="1572768"/>
          </a:xfrm>
          <a:prstGeom prst="rect">
            <a:avLst/>
          </a:prstGeom>
          <a:solidFill>
            <a:srgbClr val="EEF5FF"/>
          </a:solidFill>
          <a:ln w="1016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599432"/>
            <a:ext cx="548640" cy="548640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599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22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5537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600">
                <a:solidFill>
                  <a:srgbClr val="2456A6"/>
                </a:solidFill>
                <a:latin typeface="Calibri"/>
              </a:rPr>
              <a:t>Backend de memoria (L8)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919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300">
                <a:solidFill>
                  <a:srgbClr val="1A2330"/>
                </a:solidFill>
                <a:latin typeface="Courier New"/>
              </a:rPr>
              <a:t>mem0  x  letta  x  cognee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599432"/>
            <a:ext cx="72237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400">
                <a:solidFill>
                  <a:srgbClr val="1A2330"/>
                </a:solidFill>
                <a:latin typeface="Calibri"/>
              </a:rPr>
              <a:t>letta implica lock-in de runtime ('usar a memoria = usar o agente'). Colisao de embeddings se compartilham pgvector sem namespacing. Default: mem0 (plugavel, sem lock-in).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089904"/>
            <a:ext cx="11548872" cy="41148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13562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FFFFFF"/>
                </a:solidFill>
                <a:latin typeface="Calibri"/>
              </a:rPr>
              <a:t>Bonus: open-design x open-codesign (L6) — mesma vaga + posturas de seguranca incompativeis (bypassPermissions vs loop permissionado).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2800">
                <a:solidFill>
                  <a:srgbClr val="FFFFFF"/>
                </a:solidFill>
                <a:latin typeface="Calibri"/>
              </a:rPr>
              <a:t>O HUB = gating network: 5 estagios sobre substratos always-on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Emilson Moraes (ekson73) · Vek · 2026-06-27 · Agentic MoE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2029968" cy="15087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408176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FFFFFF"/>
                </a:solidFill>
                <a:latin typeface="Calibri"/>
              </a:rPr>
              <a:t>1
Intent
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176272"/>
            <a:ext cx="18836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B0C8E8"/>
                </a:solidFill>
                <a:latin typeface="Calibri"/>
              </a:rPr>
              <a:t>BMAD phase-map
-&gt; HNSW (ruflo)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6584" y="1901952"/>
            <a:ext cx="192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2200">
                <a:solidFill>
                  <a:srgbClr val="2456A6"/>
                </a:solidFill>
                <a:latin typeface="Calibri"/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8608" y="1353312"/>
            <a:ext cx="2029968" cy="15087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408176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FFFFFF"/>
                </a:solidFill>
                <a:latin typeface="Calibri"/>
              </a:rPr>
              <a:t>2
CTS
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176272"/>
            <a:ext cx="18836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B0C8E8"/>
                </a:solidFill>
                <a:latin typeface="Calibri"/>
              </a:rPr>
              <a:t>ISO x Eisenhower x risk
x scope x reversibility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901952"/>
            <a:ext cx="192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2200">
                <a:solidFill>
                  <a:srgbClr val="2456A6"/>
                </a:solidFill>
                <a:latin typeface="Calibri"/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37176" y="1353312"/>
            <a:ext cx="2029968" cy="15087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1408176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FFFFFF"/>
                </a:solidFill>
                <a:latin typeface="Calibri"/>
              </a:rPr>
              <a:t>3
ISO
Tool-Gating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2176272"/>
            <a:ext cx="18836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B0C8E8"/>
                </a:solidFill>
                <a:latin typeface="Calibri"/>
              </a:rPr>
              <a:t>Pool &lt;=60 tok/tool
top-k lazy-schema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901952"/>
            <a:ext cx="192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2200">
                <a:solidFill>
                  <a:srgbClr val="2456A6"/>
                </a:solidFill>
                <a:latin typeface="Calibri"/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5744" y="1353312"/>
            <a:ext cx="2029968" cy="15087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8896" y="1408176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FFFFFF"/>
                </a:solidFill>
                <a:latin typeface="Calibri"/>
              </a:rPr>
              <a:t>4
Model
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2176272"/>
            <a:ext cx="18836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B0C8E8"/>
                </a:solidFill>
                <a:latin typeface="Calibri"/>
              </a:rPr>
              <a:t>LiteLLM (INFRA)
per-category budgets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1901952"/>
            <a:ext cx="192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2200">
                <a:solidFill>
                  <a:srgbClr val="2456A6"/>
                </a:solidFill>
                <a:latin typeface="Calibri"/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54312" y="1353312"/>
            <a:ext cx="2029968" cy="15087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7464" y="1408176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FFFFFF"/>
                </a:solidFill>
                <a:latin typeface="Calibri"/>
              </a:rPr>
              <a:t>5
Tool
Registry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2176272"/>
            <a:ext cx="18836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B0C8E8"/>
                </a:solidFill>
                <a:latin typeface="Calibri"/>
              </a:rPr>
              <a:t>YAML SSOT
26 experts + graphiti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044952"/>
            <a:ext cx="11548872" cy="502920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181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0" i="0" sz="1300">
                <a:solidFill>
                  <a:srgbClr val="FFFFFF"/>
                </a:solidFill>
                <a:latin typeface="Calibri"/>
              </a:rPr>
              <a:t>ALWAYS-ON SUBSTRATES  ·  L0 Guardrails (karpathy-claude-md + AgentShield)  ·  L8 Memory (mem0 + graphiti)  ·  L9 Observability (langfuse, OTel)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639312"/>
            <a:ext cx="5303520" cy="2286000"/>
          </a:xfrm>
          <a:prstGeom prst="rect">
            <a:avLst/>
          </a:prstGeom>
          <a:solidFill>
            <a:srgbClr val="E8EFF9"/>
          </a:solidFill>
          <a:ln w="1016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307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2456A6"/>
                </a:solidFill>
                <a:latin typeface="Calibri"/>
              </a:rPr>
              <a:t>HITL (Human-in-the-Loop)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42232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>
                <a:solidFill>
                  <a:srgbClr val="1A2330"/>
                </a:solidFill>
                <a:latin typeface="Calibri"/>
              </a:rPr>
              <a:t>Obrigatorio em acoes IRREVERSIVEIS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>
                <a:solidFill>
                  <a:srgbClr val="1A2330"/>
                </a:solidFill>
                <a:latin typeface="Calibri"/>
              </a:rPr>
              <a:t>Obrigatorio em risco HIGH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>
                <a:solidFill>
                  <a:srgbClr val="1A2330"/>
                </a:solidFill>
                <a:latin typeface="Calibri"/>
              </a:rPr>
              <a:t>Obrigatorio em escolha mutuamente exclusiva de alto impacto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>
                <a:solidFill>
                  <a:srgbClr val="1A2330"/>
                </a:solidFill>
                <a:latin typeface="Calibri"/>
              </a:rPr>
              <a:t>Ciclo: warn -&gt; correct -&gt; block (avaliado por LLM-as-judge via langfuse)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639312"/>
            <a:ext cx="5925312" cy="2286000"/>
          </a:xfrm>
          <a:prstGeom prst="rect">
            <a:avLst/>
          </a:prstGeom>
          <a:solidFill>
            <a:srgbClr val="E8EFF9"/>
          </a:solidFill>
          <a:ln w="1016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373075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2456A6"/>
                </a:solidFill>
                <a:latin typeface="Calibri"/>
              </a:rPr>
              <a:t>ISO Tool-Gating resolve o 'MCP Tax'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142232"/>
            <a:ext cx="5669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>
                <a:solidFill>
                  <a:srgbClr val="1A2330"/>
                </a:solidFill>
                <a:latin typeface="Calibri"/>
              </a:rPr>
              <a:t>Sem gating: soma(|schema_i|) = 10k-60k tokens/turno desperdicados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>
                <a:solidFill>
                  <a:srgbClr val="1A2330"/>
                </a:solidFill>
                <a:latin typeface="Calibri"/>
              </a:rPr>
              <a:t>Com ISO: 60*N (pool fixo) + k*|schema| (top-k gateados)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>
                <a:solidFill>
                  <a:srgbClr val="1A2330"/>
                </a:solidFill>
                <a:latin typeface="Calibri"/>
              </a:rPr>
              <a:t>Para N=80, k=5 -&gt; ~10k tokens vs &gt;40k sem gating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>
                <a:solidFill>
                  <a:srgbClr val="1A2330"/>
                </a:solidFill>
                <a:latin typeface="Calibri"/>
              </a:rPr>
              <a:t>Mantem utilizacao abaixo de 70% -&gt; evita context-fracture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2800">
                <a:solidFill>
                  <a:srgbClr val="FFFFFF"/>
                </a:solidFill>
                <a:latin typeface="Calibri"/>
              </a:rPr>
              <a:t>Principio DRY: reusar padroes dos experts, nao reinventar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Emilson Moraes (ekson73) · Vek · 2026-06-27 · Agentic MoE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5394960" cy="2103120"/>
          </a:xfrm>
          <a:prstGeom prst="rect">
            <a:avLst/>
          </a:prstGeom>
          <a:solidFill>
            <a:srgbClr val="E8EFF9"/>
          </a:solidFill>
          <a:ln w="1270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07008"/>
            <a:ext cx="1828800" cy="320040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2252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300">
                <a:solidFill>
                  <a:srgbClr val="FFFFFF"/>
                </a:solidFill>
                <a:latin typeface="Calibri"/>
              </a:rPr>
              <a:t>ruflo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225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~54-62K*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591056"/>
            <a:ext cx="5175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1A2330"/>
                </a:solidFill>
                <a:latin typeface="Calibri"/>
              </a:rPr>
              <a:t>Queen-&gt;Topology + Trust-Score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75104"/>
            <a:ext cx="51755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1A2330"/>
                </a:solidFill>
                <a:latin typeface="Calibri"/>
              </a:rPr>
              <a:t>O meta-routing do ruflo (HNSW dispatch, 314 MCP tools, learning-loop RETRIEVE-&gt;JUDGE-&gt;DISTILL-&gt;CONSOLIDATE) e IMPORTADO verbatim. O trust_score (0.4*success + 0.2*uptime + 0.2*threat + 0.2*integrity) alimenta o CTS diretamente.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16168" y="1207008"/>
            <a:ext cx="5394960" cy="2103120"/>
          </a:xfrm>
          <a:prstGeom prst="rect">
            <a:avLst/>
          </a:prstGeom>
          <a:solidFill>
            <a:srgbClr val="E8EFF9"/>
          </a:solidFill>
          <a:ln w="1270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16168" y="1207008"/>
            <a:ext cx="1828800" cy="320040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2252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300">
                <a:solidFill>
                  <a:srgbClr val="FFFFFF"/>
                </a:solidFill>
                <a:latin typeface="Calibri"/>
              </a:rPr>
              <a:t>BMAD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48088" y="1225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~48-50K*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6" y="1591056"/>
            <a:ext cx="5175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1A2330"/>
                </a:solidFill>
                <a:latin typeface="Calibri"/>
              </a:rPr>
              <a:t>Persona-&gt;Phase (gating simbolico barato)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1975104"/>
            <a:ext cx="51755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1A2330"/>
                </a:solidFill>
                <a:latin typeface="Calibri"/>
              </a:rPr>
              <a:t>O mapeamento BMAD (fase_SDLC -&gt; persona) e usado como classificador de Intent de primeira linha — barato, simbolico, sem embedding. So sobe para HNSW em ambiguidade. Licenca MIT confirmada.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11296"/>
            <a:ext cx="5394960" cy="2103120"/>
          </a:xfrm>
          <a:prstGeom prst="rect">
            <a:avLst/>
          </a:prstGeom>
          <a:solidFill>
            <a:srgbClr val="E8EFF9"/>
          </a:solidFill>
          <a:ln w="1270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511296"/>
            <a:ext cx="1828800" cy="320040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35295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300">
                <a:solidFill>
                  <a:srgbClr val="FFFFFF"/>
                </a:solidFill>
                <a:latin typeface="Calibri"/>
              </a:rPr>
              <a:t>ECC NanoClaw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5295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~188K*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895344"/>
            <a:ext cx="5175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1A2330"/>
                </a:solidFill>
                <a:latin typeface="Calibri"/>
              </a:rPr>
              <a:t>Gating O(1) + AgentShield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4279392"/>
            <a:ext cx="51755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1A2330"/>
                </a:solidFill>
                <a:latin typeface="Calibri"/>
              </a:rPr>
              <a:t>NanoClaw: hot-load / lazy-schema = carregar schema completo apenas quando a tool e promovida (identico ao Tool-Attention do HUB). AgentShield (102 rules) roda em PreToolUse como scanner L0 de supply-chain.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16168" y="3511296"/>
            <a:ext cx="5394960" cy="2103120"/>
          </a:xfrm>
          <a:prstGeom prst="rect">
            <a:avLst/>
          </a:prstGeom>
          <a:solidFill>
            <a:srgbClr val="E8EFF9"/>
          </a:solidFill>
          <a:ln w="1270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6168" y="3511296"/>
            <a:ext cx="1828800" cy="320040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35295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300">
                <a:solidFill>
                  <a:srgbClr val="FFFFFF"/>
                </a:solidFill>
                <a:latin typeface="Calibri"/>
              </a:rPr>
              <a:t>Tool-Attention (ISO)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35295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b="0" i="0" sz="1100">
                <a:solidFill>
                  <a:srgbClr val="8A99AA"/>
                </a:solidFill>
                <a:latin typeface="Calibri"/>
              </a:rPr>
              <a:t>Padrao ECC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25896" y="3895344"/>
            <a:ext cx="5175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1A2330"/>
                </a:solidFill>
                <a:latin typeface="Calibri"/>
              </a:rPr>
              <a:t>Pool permanente &lt;=60 tok/tool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25896" y="4279392"/>
            <a:ext cx="51755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1A2330"/>
                </a:solidFill>
                <a:latin typeface="Calibri"/>
              </a:rPr>
              <a:t>Padrao de atencao gateada sparse top-k softmax: pool de summaries fixo + promocao lazy de schema completo so para top-k. Elimina o 'MCP Tax' mantendo utilizacao &lt;70%.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888736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2456A6"/>
                </a:solidFill>
                <a:latin typeface="Calibri"/>
              </a:rPr>
              <a:t>'Reusar, nao reinventar' — cada padrao tem lineage rastreavel nos experts INCLUDED.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2800">
                <a:solidFill>
                  <a:srgbClr val="FFFFFF"/>
                </a:solidFill>
                <a:latin typeface="Calibri"/>
              </a:rPr>
              <a:t>Cheat-sheet de roteamento: Eisenhower x risco -&gt; stack recomendado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Emilson Moraes (ekson73) · Vek · 2026-06-27 · Agentic MoE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1548872" cy="329184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100">
                <a:solidFill>
                  <a:srgbClr val="FFFFFF"/>
                </a:solidFill>
                <a:latin typeface="Calibri"/>
              </a:rPr>
              <a:t>Quadrante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20700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100">
                <a:solidFill>
                  <a:srgbClr val="FFFFFF"/>
                </a:solidFill>
                <a:latin typeface="Calibri"/>
              </a:rPr>
              <a:t>Risco·Escopo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2070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100">
                <a:solidFill>
                  <a:srgbClr val="FFFFFF"/>
                </a:solidFill>
                <a:latin typeface="Calibri"/>
              </a:rPr>
              <a:t>Stack recomendado (substrate-first)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2070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100">
                <a:solidFill>
                  <a:srgbClr val="FFFFFF"/>
                </a:solidFill>
                <a:latin typeface="Calibri"/>
              </a:rPr>
              <a:t>Nota HITL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499616"/>
            <a:ext cx="11548872" cy="821436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527048"/>
            <a:ext cx="1444752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000">
                <a:solidFill>
                  <a:srgbClr val="2456A6"/>
                </a:solidFill>
                <a:latin typeface="Calibri"/>
              </a:rPr>
              <a:t>Q1 Urgente
+Importante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527048"/>
            <a:ext cx="169164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1A2330"/>
                </a:solidFill>
                <a:latin typeface="Calibri"/>
              </a:rPr>
              <a:t>HIGH — incidente 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527048"/>
            <a:ext cx="525780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1A2330"/>
                </a:solidFill>
                <a:latin typeface="Courier New"/>
              </a:rPr>
              <a:t>L0 base+karpathy · L8 mem0 · L9 langfuse -&gt; graphify(L4) -&gt; gsd-core|gstack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527048"/>
            <a:ext cx="283464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HITL obrigatorio — aprovacao PR + canary; fork open-gsd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39340"/>
            <a:ext cx="11548872" cy="8214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366772"/>
            <a:ext cx="1444752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000">
                <a:solidFill>
                  <a:srgbClr val="2456A6"/>
                </a:solidFill>
                <a:latin typeface="Calibri"/>
              </a:rPr>
              <a:t>Q1 Urgente
+Importante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366772"/>
            <a:ext cx="169164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1A2330"/>
                </a:solidFill>
                <a:latin typeface="Calibri"/>
              </a:rPr>
              <a:t>MED — hotfix pontual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366772"/>
            <a:ext cx="525780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1A2330"/>
                </a:solidFill>
                <a:latin typeface="Courier New"/>
              </a:rPr>
              <a:t>L0 karpathy · L8 mem0 · L9 langfuse -&gt; openspec(L1) -&gt; superpowers(L2 TDD)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366772"/>
            <a:ext cx="283464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HITL no code-review; pular L3 (overkill)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179064"/>
            <a:ext cx="11548872" cy="821436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206496"/>
            <a:ext cx="1444752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000">
                <a:solidFill>
                  <a:srgbClr val="2456A6"/>
                </a:solidFill>
                <a:latin typeface="Calibri"/>
              </a:rPr>
              <a:t>Q2 Importante
nao-urgente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206496"/>
            <a:ext cx="169164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1A2330"/>
                </a:solidFill>
                <a:latin typeface="Calibri"/>
              </a:rPr>
              <a:t>LOW-MED — greenfield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206496"/>
            <a:ext cx="525780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1A2330"/>
                </a:solidFill>
                <a:latin typeface="Courier New"/>
              </a:rPr>
              <a:t>substratos -&gt; seed(ideacao) -&gt; spec-kit|openspec -&gt; superpowers -&gt; open-codesign -&gt; frontend-slides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206496"/>
            <a:ext cx="283464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HITL na escolha spec-kit vs openspec + aprovacao do plano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18788"/>
            <a:ext cx="11548872" cy="8214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046220"/>
            <a:ext cx="1444752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000">
                <a:solidFill>
                  <a:srgbClr val="2456A6"/>
                </a:solidFill>
                <a:latin typeface="Calibri"/>
              </a:rPr>
              <a:t>Q2 Importante
nao-urgente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046220"/>
            <a:ext cx="169164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1A2330"/>
                </a:solidFill>
                <a:latin typeface="Calibri"/>
              </a:rPr>
              <a:t>MED — refactor legado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046220"/>
            <a:ext cx="525780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1A2330"/>
                </a:solidFill>
                <a:latin typeface="Courier New"/>
              </a:rPr>
              <a:t>L0+base · L8 cognee(graph) -&gt; understand-anything(L4) -&gt; graphify -&gt; openspec -&gt; superpowers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046220"/>
            <a:ext cx="283464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HITL no code-review; CTS: openspec 0.779 vs spec-kit 0.590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58512"/>
            <a:ext cx="11548872" cy="821436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4885944"/>
            <a:ext cx="1444752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000">
                <a:solidFill>
                  <a:srgbClr val="2456A6"/>
                </a:solidFill>
                <a:latin typeface="Calibri"/>
              </a:rPr>
              <a:t>Q3 Urgente
nao-importante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4885944"/>
            <a:ext cx="169164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1A2330"/>
                </a:solidFill>
                <a:latin typeface="Calibri"/>
              </a:rPr>
              <a:t>LOW — slides/design rapido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885944"/>
            <a:ext cx="525780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1A2330"/>
                </a:solidFill>
                <a:latin typeface="Courier New"/>
              </a:rPr>
              <a:t>L0 karpathy · substratos -&gt; open-codesign|open-design(L6) -&gt; frontend-slides|slidev(L7)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885944"/>
            <a:ext cx="283464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HITL baixo/opcional; sandbox se open-design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98236"/>
            <a:ext cx="11548872" cy="8214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5725668"/>
            <a:ext cx="1444752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000">
                <a:solidFill>
                  <a:srgbClr val="2456A6"/>
                </a:solidFill>
                <a:latin typeface="Calibri"/>
              </a:rPr>
              <a:t>Q4 nem-nem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19" y="5725668"/>
            <a:ext cx="169164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1A2330"/>
                </a:solidFill>
                <a:latin typeface="Calibri"/>
              </a:rPr>
              <a:t>LOW — PoC descartavel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5725668"/>
            <a:ext cx="525780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1A2330"/>
                </a:solidFill>
                <a:latin typeface="Courier New"/>
              </a:rPr>
              <a:t>L0 karpathy (so) · L8 mem0 efemero -&gt; cli-anything|superpowers leve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725668"/>
            <a:ext cx="2834640" cy="78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Pular L3; sem HITL; nao persistir aprendizado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2800">
                <a:solidFill>
                  <a:srgbClr val="FFFFFF"/>
                </a:solidFill>
                <a:latin typeface="Calibri"/>
              </a:rPr>
              <a:t>Proximos passos: 5 acoes concretas para tornar o HUB operacional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000">
                <a:solidFill>
                  <a:srgbClr val="8A99AA"/>
                </a:solidFill>
                <a:latin typeface="Calibri"/>
              </a:rPr>
              <a:t>Emilson Moraes (ekson73) · Vek · 2026-06-27 · Agentic MoE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11548872" cy="932688"/>
          </a:xfrm>
          <a:prstGeom prst="rect">
            <a:avLst/>
          </a:prstGeom>
          <a:solidFill>
            <a:srgbClr val="E8EFF9"/>
          </a:solidFill>
          <a:ln w="1016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07008"/>
            <a:ext cx="475488" cy="93268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08176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2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261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2456A6"/>
                </a:solidFill>
                <a:latin typeface="Calibri"/>
              </a:rPr>
              <a:t>Tool Registry YAML (SSOT)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3677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1A2330"/>
                </a:solidFill>
                <a:latin typeface="Calibri"/>
              </a:rPr>
              <a:t>Implementar registros completos para os 26 experts INCLUDED + graphiti (apenas 4 expandidos). Campos: layer, role, summary&lt;=60tok, risk_tier, security_status, mechanisms[]. Lanca o MCP server maos-hub com hub.route / hub.score / hub.registry.get / hub.gate.approve / hub.trace.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94560"/>
            <a:ext cx="1154887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194560"/>
            <a:ext cx="475488" cy="93268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95728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2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494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2456A6"/>
                </a:solidFill>
                <a:latin typeface="Calibri"/>
              </a:rPr>
              <a:t>Substratos mem0 + langfuse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2432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1A2330"/>
                </a:solidFill>
                <a:latin typeface="Calibri"/>
              </a:rPr>
              <a:t>Ativar mem0 e langfuse como defaults L8/L9 no multi-agent-os. Configurar namespacing por tenant. Integrar graphiti para memoria temporal. Emitir spans OTLP de toda rota para langfuse.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82112"/>
            <a:ext cx="11548872" cy="932688"/>
          </a:xfrm>
          <a:prstGeom prst="rect">
            <a:avLst/>
          </a:prstGeom>
          <a:solidFill>
            <a:srgbClr val="E8EFF9"/>
          </a:solidFill>
          <a:ln w="1016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182112"/>
            <a:ext cx="475488" cy="93268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383280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22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369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2456A6"/>
                </a:solidFill>
                <a:latin typeface="Calibri"/>
              </a:rPr>
              <a:t>AgentShield — scanner de supply-chain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1A2330"/>
                </a:solidFill>
                <a:latin typeface="Calibri"/>
              </a:rPr>
              <a:t>Rodar AgentShield (102 rules, ECC) sobre experts INCLUDED com canal de instrucao pesado (ECC, gstack, carl, base). Mapear hooks/MCP-risk reais. Verificar alegacao ~13% vulns criticas em pacotes agent-skill [UNVERIFIED].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69664"/>
            <a:ext cx="1154887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169664"/>
            <a:ext cx="475488" cy="93268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370832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22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245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2456A6"/>
                </a:solidFill>
                <a:latin typeface="Calibri"/>
              </a:rPr>
              <a:t>Calibrar pesos CTS e thresholds ISO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994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1A2330"/>
                </a:solidFill>
                <a:latin typeface="Calibri"/>
              </a:rPr>
              <a:t>Calibrar empiricamente pesos default (w_iso=0.30, w_trust=0.30, w_risk=0.50) e limiares via matriz 6x3 (6 task-families x low/med/high risk). Medir A/B com vs sem ISO tool-gating (token cost + % context-fracture acima de 70%).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157216"/>
            <a:ext cx="11548872" cy="932688"/>
          </a:xfrm>
          <a:prstGeom prst="rect">
            <a:avLst/>
          </a:prstGeom>
          <a:solidFill>
            <a:srgbClr val="E8EFF9"/>
          </a:solidFill>
          <a:ln w="1016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157216"/>
            <a:ext cx="475488" cy="93268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358384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1" i="0" sz="22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12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1400">
                <a:solidFill>
                  <a:srgbClr val="2456A6"/>
                </a:solidFill>
                <a:latin typeface="Calibri"/>
              </a:rPr>
              <a:t>Re-coletar estrelas + confirmar licencas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58698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200">
                <a:solidFill>
                  <a:srgbClr val="1A2330"/>
                </a:solidFill>
                <a:latin typeface="Calibri"/>
              </a:rPr>
              <a:t>Re-rodar coleta com token GitHub autenticado para eliminar [sec]: ECC, superpowers, mem0, cognee, graphify. Confirmar NOASSERTION de langfuse ee/, phoenix, litellm — e license=null de seed/base/karpathy. TTL de revisao: 2026-09-27.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3200">
                <a:solidFill>
                  <a:srgbClr val="FFFFFF"/>
                </a:solidFill>
                <a:latin typeface="Cambria"/>
              </a:rPr>
              <a:t>O ecossistema agentic nao tem vencedor unico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3200">
                <a:solidFill>
                  <a:srgbClr val="B0C4DE"/>
                </a:solidFill>
                <a:latin typeface="Cambria"/>
              </a:rPr>
              <a:t>e uma STACK roteada como Mixture-of-Experts,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585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3200">
                <a:solidFill>
                  <a:srgbClr val="2456A6"/>
                </a:solidFill>
                <a:latin typeface="Cambria"/>
              </a:rPr>
              <a:t>onde o HUB e o gating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600">
                <a:solidFill>
                  <a:srgbClr val="8A99AA"/>
                </a:solidFill>
                <a:latin typeface="Calibri"/>
              </a:rPr>
              <a:t>Material completo em: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186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sz="2000">
                <a:solidFill>
                  <a:srgbClr val="FFFFFF"/>
                </a:solidFill>
                <a:latin typeface="Courier New"/>
              </a:rPr>
              <a:t>research/agentic-moe-2026/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400">
                <a:solidFill>
                  <a:srgbClr val="8A99AA"/>
                </a:solidFill>
                <a:latin typeface="Calibri"/>
              </a:rPr>
              <a:t>26 experts INCLUDED · 27 nos N-Tree · Fases 0-3 · 2026-06-27 · TTL revisao: 2026-09-27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600">
                <a:solidFill>
                  <a:srgbClr val="FFFFFF"/>
                </a:solidFill>
                <a:latin typeface="Calibri"/>
              </a:rPr>
              <a:t>Emilson Moraes (ekson73)  ·  Vek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914400"/>
            <a:ext cx="3200400" cy="5029200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051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500">
                <a:solidFill>
                  <a:srgbClr val="FFFFFF"/>
                </a:solidFill>
                <a:latin typeface="Calibri"/>
              </a:rPr>
              <a:t>-&gt; Tese: STACK MoE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500">
                <a:solidFill>
                  <a:srgbClr val="FFFFFF"/>
                </a:solidFill>
                <a:latin typeface="Calibri"/>
              </a:rPr>
              <a:t>-&gt; 26 experts mapeados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423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500">
                <a:solidFill>
                  <a:srgbClr val="FFFFFF"/>
                </a:solidFill>
                <a:latin typeface="Calibri"/>
              </a:rPr>
              <a:t>-&gt; Gate supply-chain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108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500">
                <a:solidFill>
                  <a:srgbClr val="FFFFFF"/>
                </a:solidFill>
                <a:latin typeface="Calibri"/>
              </a:rPr>
              <a:t>-&gt; HUB = gating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794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500">
                <a:solidFill>
                  <a:srgbClr val="FFFFFF"/>
                </a:solidFill>
                <a:latin typeface="Calibri"/>
              </a:rPr>
              <a:t>-&gt; Substratos always-on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4480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 sz="1500">
                <a:solidFill>
                  <a:srgbClr val="FFFFFF"/>
                </a:solidFill>
                <a:latin typeface="Calibri"/>
              </a:rPr>
              <a:t>-&gt; Cheat-sheet Q1-Q4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