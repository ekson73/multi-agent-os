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88952" cy="54864"/>
          </a:xfrm>
          <a:prstGeom prst="rect">
            <a:avLst/>
          </a:prstGeom>
          <a:solidFill>
            <a:srgbClr val="245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5200">
                <a:solidFill>
                  <a:srgbClr val="FFFFFF"/>
                </a:solidFill>
                <a:latin typeface="Cambria"/>
              </a:rPr>
              <a:t>MAOS Hub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3000">
                <a:solidFill>
                  <a:srgbClr val="B0C4DE"/>
                </a:solidFill>
                <a:latin typeface="Calibri"/>
              </a:rPr>
              <a:t>Landscape &amp; Gating-Network (Agentic MoE 2026)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6324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600">
                <a:solidFill>
                  <a:srgbClr val="8A99AA"/>
                </a:solidFill>
                <a:latin typeface="Calibri"/>
              </a:rPr>
              <a:t>Sintese das Fases 0-3 · 26 experts mapeados · Mixture-of-Experts routing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319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800">
                <a:solidFill>
                  <a:srgbClr val="FFFFFF"/>
                </a:solidFill>
                <a:latin typeface="Calibri"/>
              </a:rPr>
              <a:t>Emilson Moraes (ekson73)  ·  Vek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976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500">
                <a:solidFill>
                  <a:srgbClr val="8A99AA"/>
                </a:solidFill>
                <a:latin typeface="Calibri"/>
              </a:rPr>
              <a:t>2026-06-27 · reframe ADR-006 (Accepted 2026-06-29)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0" y="914400"/>
            <a:ext cx="2194560" cy="4114800"/>
          </a:xfrm>
          <a:prstGeom prst="rect">
            <a:avLst/>
          </a:prstGeom>
          <a:solidFill>
            <a:srgbClr val="245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46920" y="1051560"/>
            <a:ext cx="2103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300">
                <a:solidFill>
                  <a:srgbClr val="FFFFFF"/>
                </a:solidFill>
                <a:latin typeface="Courier New"/>
              </a:rPr>
              <a:t>research/
agentic-moe-
2026/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3152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2800">
                <a:solidFill>
                  <a:srgbClr val="FFFFFF"/>
                </a:solidFill>
                <a:latin typeface="Calibri"/>
              </a:rPr>
              <a:t>O ecossistema nao tem vencedor — e uma STACK roteada como MoE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58064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A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83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000">
                <a:solidFill>
                  <a:srgbClr val="8A99AA"/>
                </a:solidFill>
                <a:latin typeface="Calibri"/>
              </a:rPr>
              <a:t>Emilson Moraes (ekson73) · Vek · 2026-06-27 · Agentic MoE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70432"/>
            <a:ext cx="3566160" cy="4754880"/>
          </a:xfrm>
          <a:prstGeom prst="rect">
            <a:avLst/>
          </a:prstGeom>
          <a:solidFill>
            <a:srgbClr val="E8EFF9"/>
          </a:solidFill>
          <a:ln w="15240">
            <a:solidFill>
              <a:srgbClr val="245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600">
                <a:solidFill>
                  <a:srgbClr val="2456A6"/>
                </a:solidFill>
                <a:latin typeface="Calibri"/>
              </a:rPr>
              <a:t>Camadas por PAPEL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64792"/>
            <a:ext cx="3291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500">
                <a:solidFill>
                  <a:srgbClr val="1A2330"/>
                </a:solidFill>
                <a:latin typeface="Calibri"/>
              </a:rPr>
              <a:t>L0 Guardrails · L8 Memory · L9 Observability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500">
                <a:solidFill>
                  <a:srgbClr val="1A2330"/>
                </a:solidFill>
                <a:latin typeface="Calibri"/>
              </a:rPr>
              <a:t>L4 Codebase · L5 PKM (conhecimento)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500">
                <a:solidFill>
                  <a:srgbClr val="1A2330"/>
                </a:solidFill>
                <a:latin typeface="Calibri"/>
              </a:rPr>
              <a:t>L1 Spec -&gt; L2 Workflow -&gt; L6 Design -&gt; L7 Slides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500">
                <a:solidFill>
                  <a:srgbClr val="1A2330"/>
                </a:solidFill>
                <a:latin typeface="Calibri"/>
              </a:rPr>
              <a:t>L3 Amplificador (opcional, caro)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87368" y="1170432"/>
            <a:ext cx="3566160" cy="4754880"/>
          </a:xfrm>
          <a:prstGeom prst="rect">
            <a:avLst/>
          </a:prstGeom>
          <a:solidFill>
            <a:srgbClr val="E8EFF9"/>
          </a:solidFill>
          <a:ln w="15240">
            <a:solidFill>
              <a:srgbClr val="245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24528" y="12801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600">
                <a:solidFill>
                  <a:srgbClr val="2456A6"/>
                </a:solidFill>
                <a:latin typeface="Calibri"/>
              </a:rPr>
              <a:t>Roteamento MoE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24528" y="1764792"/>
            <a:ext cx="3291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500">
                <a:solidFill>
                  <a:srgbClr val="1A2330"/>
                </a:solidFill>
                <a:latin typeface="Calibri"/>
              </a:rPr>
              <a:t>Substratos: ALWAYS-ON (densos, residual somado)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500">
                <a:solidFill>
                  <a:srgbClr val="1A2330"/>
                </a:solidFill>
                <a:latin typeface="Calibri"/>
              </a:rPr>
              <a:t>Pipeline: top-1 esparso por slot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500">
                <a:solidFill>
                  <a:srgbClr val="1A2330"/>
                </a:solidFill>
                <a:latin typeface="Calibri"/>
              </a:rPr>
              <a:t>Experts concorrentes numa camada NAO convergem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500">
                <a:solidFill>
                  <a:srgbClr val="1A2330"/>
                </a:solidFill>
                <a:latin typeface="Calibri"/>
              </a:rPr>
              <a:t>L3 so dispara em alta ambiguidade/paralelizacao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54696" y="1170432"/>
            <a:ext cx="3566160" cy="4754880"/>
          </a:xfrm>
          <a:prstGeom prst="rect">
            <a:avLst/>
          </a:prstGeom>
          <a:solidFill>
            <a:srgbClr val="E8EFF9"/>
          </a:solidFill>
          <a:ln w="15240">
            <a:solidFill>
              <a:srgbClr val="245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91856" y="12801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600">
                <a:solidFill>
                  <a:srgbClr val="2456A6"/>
                </a:solidFill>
                <a:latin typeface="Calibri"/>
              </a:rPr>
              <a:t>Implicacao de decisao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91856" y="1764792"/>
            <a:ext cx="3291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500">
                <a:solidFill>
                  <a:srgbClr val="1A2330"/>
                </a:solidFill>
                <a:latin typeface="Calibri"/>
              </a:rPr>
              <a:t>Escolha 1 expert por slot — empilhar 2 rompe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500">
                <a:solidFill>
                  <a:srgbClr val="1A2330"/>
                </a:solidFill>
                <a:latin typeface="Calibri"/>
              </a:rPr>
              <a:t>Gate de supply-chain e parte da tese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500">
                <a:solidFill>
                  <a:srgbClr val="1A2330"/>
                </a:solidFill>
                <a:latin typeface="Calibri"/>
              </a:rPr>
              <a:t>Estrelas = sinal de magnitude, nao precisao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500">
                <a:solidFill>
                  <a:srgbClr val="1A2330"/>
                </a:solidFill>
                <a:latin typeface="Calibri"/>
              </a:rPr>
              <a:t>Hub = gating network simbolico-estratificado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3152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2800">
                <a:solidFill>
                  <a:srgbClr val="FFFFFF"/>
                </a:solidFill>
                <a:latin typeface="Calibri"/>
              </a:rPr>
              <a:t>O mapa: tres substratos sempre ativos + pipeline ordenada + amplificador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58064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A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83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000">
                <a:solidFill>
                  <a:srgbClr val="8A99AA"/>
                </a:solidFill>
                <a:latin typeface="Calibri"/>
              </a:rPr>
              <a:t>Emilson Moraes (ekson73) · Vek · 2026-06-27 · Agentic MoE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70432"/>
            <a:ext cx="11548872" cy="858012"/>
          </a:xfrm>
          <a:prstGeom prst="rect">
            <a:avLst/>
          </a:prstGeom>
          <a:solidFill>
            <a:srgbClr val="245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8" y="1207008"/>
            <a:ext cx="3474720" cy="821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300">
                <a:solidFill>
                  <a:srgbClr val="FFFFFF"/>
                </a:solidFill>
                <a:latin typeface="Calibri"/>
              </a:rPr>
              <a:t>L3 — AMPLIFICADOR (opcional)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86200" y="1207008"/>
            <a:ext cx="3840480" cy="821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200">
                <a:solidFill>
                  <a:srgbClr val="D0E4FF"/>
                </a:solidFill>
                <a:latin typeface="Calibri"/>
              </a:rPr>
              <a:t>ruflo · bmad-method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80" y="1207008"/>
            <a:ext cx="4023360" cy="821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100">
                <a:solidFill>
                  <a:srgbClr val="CCDDEE"/>
                </a:solidFill>
                <a:latin typeface="Calibri"/>
              </a:rPr>
              <a:t>Meta-routing, swarm, persona-handoff — so em alta ambiguidade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065020"/>
            <a:ext cx="11548872" cy="858012"/>
          </a:xfrm>
          <a:prstGeom prst="rect">
            <a:avLst/>
          </a:prstGeom>
          <a:solidFill>
            <a:srgbClr val="346F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2101596"/>
            <a:ext cx="3474720" cy="821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300">
                <a:solidFill>
                  <a:srgbClr val="FFFFFF"/>
                </a:solidFill>
                <a:latin typeface="Calibri"/>
              </a:rPr>
              <a:t>L1-&gt;L2-&gt;L6-&gt;L7 — PIPELINE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86200" y="2101596"/>
            <a:ext cx="3840480" cy="821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200">
                <a:solidFill>
                  <a:srgbClr val="D0E4FF"/>
                </a:solidFill>
                <a:latin typeface="Calibri"/>
              </a:rPr>
              <a:t>spec · workflow · design · slides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80" y="2101596"/>
            <a:ext cx="4023360" cy="821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100">
                <a:solidFill>
                  <a:srgbClr val="CCDDEE"/>
                </a:solidFill>
                <a:latin typeface="Calibri"/>
              </a:rPr>
              <a:t>Esteira ordenada; top-1 esparso por slot (exclusivos intra-camada)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959608"/>
            <a:ext cx="11548872" cy="858012"/>
          </a:xfrm>
          <a:prstGeom prst="rect">
            <a:avLst/>
          </a:prstGeom>
          <a:solidFill>
            <a:srgbClr val="458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996184"/>
            <a:ext cx="3474720" cy="821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300">
                <a:solidFill>
                  <a:srgbClr val="FFFFFF"/>
                </a:solidFill>
                <a:latin typeface="Calibri"/>
              </a:rPr>
              <a:t>L4/L5 — CONHECIMENTO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2996184"/>
            <a:ext cx="3840480" cy="821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200">
                <a:solidFill>
                  <a:srgbClr val="D0E4FF"/>
                </a:solidFill>
                <a:latin typeface="Calibri"/>
              </a:rPr>
              <a:t>graphify · understand-anything · obsidian-skills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26680" y="2996184"/>
            <a:ext cx="4023360" cy="821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100">
                <a:solidFill>
                  <a:srgbClr val="CCDDEE"/>
                </a:solidFill>
                <a:latin typeface="Calibri"/>
              </a:rPr>
              <a:t>Consultado antes de especificar; grafo de codebase + PKM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854196"/>
            <a:ext cx="11548872" cy="858012"/>
          </a:xfrm>
          <a:prstGeom prst="rect">
            <a:avLst/>
          </a:prstGeom>
          <a:solidFill>
            <a:srgbClr val="1A50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9768" y="3890772"/>
            <a:ext cx="3474720" cy="821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300">
                <a:solidFill>
                  <a:srgbClr val="FFFFFF"/>
                </a:solidFill>
                <a:latin typeface="Calibri"/>
              </a:rPr>
              <a:t>L9 — OBSERVABILITY  (always-on)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3890772"/>
            <a:ext cx="3840480" cy="821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200">
                <a:solidFill>
                  <a:srgbClr val="D0E4FF"/>
                </a:solidFill>
                <a:latin typeface="Calibri"/>
              </a:rPr>
              <a:t>langfuse (default)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26680" y="3890772"/>
            <a:ext cx="4023360" cy="821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100">
                <a:solidFill>
                  <a:srgbClr val="CCDDEE"/>
                </a:solidFill>
                <a:latin typeface="Calibri"/>
              </a:rPr>
              <a:t>OTel-native tracing + evals + datasets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4748784"/>
            <a:ext cx="11548872" cy="858012"/>
          </a:xfrm>
          <a:prstGeom prst="rect">
            <a:avLst/>
          </a:prstGeom>
          <a:solidFill>
            <a:srgbClr val="1540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9768" y="4785360"/>
            <a:ext cx="3474720" cy="821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300">
                <a:solidFill>
                  <a:srgbClr val="FFFFFF"/>
                </a:solidFill>
                <a:latin typeface="Calibri"/>
              </a:rPr>
              <a:t>L8 — MEMORY  (always-on)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86200" y="4785360"/>
            <a:ext cx="3840480" cy="821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200">
                <a:solidFill>
                  <a:srgbClr val="D0E4FF"/>
                </a:solidFill>
                <a:latin typeface="Calibri"/>
              </a:rPr>
              <a:t>mem0 (default) · graphiti · cognee · letta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26680" y="4785360"/>
            <a:ext cx="4023360" cy="821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100">
                <a:solidFill>
                  <a:srgbClr val="CCDDEE"/>
                </a:solidFill>
                <a:latin typeface="Calibri"/>
              </a:rPr>
              <a:t>Persistencia cross-session; tiered; learning-loop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5643372"/>
            <a:ext cx="11548872" cy="858012"/>
          </a:xfrm>
          <a:prstGeom prst="rect">
            <a:avLst/>
          </a:prstGeom>
          <a:solidFill>
            <a:srgbClr val="1A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8" y="5679948"/>
            <a:ext cx="3474720" cy="821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300">
                <a:solidFill>
                  <a:srgbClr val="FFFFFF"/>
                </a:solidFill>
                <a:latin typeface="Calibri"/>
              </a:rPr>
              <a:t>L0 — GUARDRAILS  (always-on)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86200" y="5679948"/>
            <a:ext cx="3840480" cy="821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200">
                <a:solidFill>
                  <a:srgbClr val="D0E4FF"/>
                </a:solidFill>
                <a:latin typeface="Calibri"/>
              </a:rPr>
              <a:t>karpathy-claude-md · AgentShield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80" y="5679948"/>
            <a:ext cx="4023360" cy="821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100">
                <a:solidFill>
                  <a:srgbClr val="CCDDEE"/>
                </a:solidFill>
                <a:latin typeface="Calibri"/>
              </a:rPr>
              <a:t>Deliberacao antes de agir; supply-chain gate PreToolUse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3152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2800">
                <a:solidFill>
                  <a:srgbClr val="FFFFFF"/>
                </a:solidFill>
                <a:latin typeface="Calibri"/>
              </a:rPr>
              <a:t>Os 26 experts INCLUDED: nome-ancora por camada + magnitude de estrelas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58064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A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83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000">
                <a:solidFill>
                  <a:srgbClr val="8A99AA"/>
                </a:solidFill>
                <a:latin typeface="Calibri"/>
              </a:rPr>
              <a:t>Emilson Moraes (ekson73) · Vek · 2026-06-27 · Agentic MoE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70432"/>
            <a:ext cx="11548872" cy="347472"/>
          </a:xfrm>
          <a:prstGeom prst="rect">
            <a:avLst/>
          </a:prstGeom>
          <a:solidFill>
            <a:srgbClr val="245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20700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200">
                <a:solidFill>
                  <a:srgbClr val="FFFFFF"/>
                </a:solidFill>
                <a:latin typeface="Calibri"/>
              </a:rPr>
              <a:t>Camada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20700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200">
                <a:solidFill>
                  <a:srgbClr val="FFFFFF"/>
                </a:solidFill>
                <a:latin typeface="Calibri"/>
              </a:rPr>
              <a:t>Papel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120700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200">
                <a:solidFill>
                  <a:srgbClr val="FFFFFF"/>
                </a:solidFill>
                <a:latin typeface="Calibri"/>
              </a:rPr>
              <a:t>Expert(s)-ancora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120700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200">
                <a:solidFill>
                  <a:srgbClr val="FFFFFF"/>
                </a:solidFill>
                <a:latin typeface="Calibri"/>
              </a:rPr>
              <a:t>Estrelas 2026-06-27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517904"/>
            <a:ext cx="11548872" cy="457200"/>
          </a:xfrm>
          <a:prstGeom prst="rect">
            <a:avLst/>
          </a:prstGeom>
          <a:solidFill>
            <a:srgbClr val="E8EF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1572768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200">
                <a:solidFill>
                  <a:srgbClr val="2456A6"/>
                </a:solidFill>
                <a:latin typeface="Calibri"/>
              </a:rPr>
              <a:t>L0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1572768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100">
                <a:solidFill>
                  <a:srgbClr val="1A2330"/>
                </a:solidFill>
                <a:latin typeface="Calibri"/>
              </a:rPr>
              <a:t>Guardrails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1572768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100">
                <a:solidFill>
                  <a:srgbClr val="1A2330"/>
                </a:solidFill>
                <a:latin typeface="Calibri"/>
              </a:rPr>
              <a:t>karpathy-claude-md · AgentShield (ECC)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1572768"/>
            <a:ext cx="4389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100">
                <a:solidFill>
                  <a:srgbClr val="8A99AA"/>
                </a:solidFill>
                <a:latin typeface="Calibri"/>
              </a:rPr>
              <a:t>~154-183K* · ~188K* (ECC)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1993392"/>
            <a:ext cx="11548872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2048256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200">
                <a:solidFill>
                  <a:srgbClr val="2456A6"/>
                </a:solidFill>
                <a:latin typeface="Calibri"/>
              </a:rPr>
              <a:t>L8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2048256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100">
                <a:solidFill>
                  <a:srgbClr val="1A2330"/>
                </a:solidFill>
                <a:latin typeface="Calibri"/>
              </a:rPr>
              <a:t>Memory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86000" y="2048256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100">
                <a:solidFill>
                  <a:srgbClr val="1A2330"/>
                </a:solidFill>
                <a:latin typeface="Calibri"/>
              </a:rPr>
              <a:t>mem0 (default) · letta · cognee · graphiti (BRIDGE)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0" y="2048256"/>
            <a:ext cx="4389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100">
                <a:solidFill>
                  <a:srgbClr val="8A99AA"/>
                </a:solidFill>
                <a:latin typeface="Calibri"/>
              </a:rPr>
              <a:t>~58K* · ~23K* · ~17-23K* · ~27K*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2468880"/>
            <a:ext cx="11548872" cy="457200"/>
          </a:xfrm>
          <a:prstGeom prst="rect">
            <a:avLst/>
          </a:prstGeom>
          <a:solidFill>
            <a:srgbClr val="E8EF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2523744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200">
                <a:solidFill>
                  <a:srgbClr val="2456A6"/>
                </a:solidFill>
                <a:latin typeface="Calibri"/>
              </a:rPr>
              <a:t>L9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252374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100">
                <a:solidFill>
                  <a:srgbClr val="1A2330"/>
                </a:solidFill>
                <a:latin typeface="Calibri"/>
              </a:rPr>
              <a:t>Observability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2523744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100">
                <a:solidFill>
                  <a:srgbClr val="1A2330"/>
                </a:solidFill>
                <a:latin typeface="Calibri"/>
              </a:rPr>
              <a:t>langfuse (default)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0" y="2523744"/>
            <a:ext cx="4389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100">
                <a:solidFill>
                  <a:srgbClr val="8A99AA"/>
                </a:solidFill>
                <a:latin typeface="Calibri"/>
              </a:rPr>
              <a:t>~28K*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2944368"/>
            <a:ext cx="11548872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2999232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200">
                <a:solidFill>
                  <a:srgbClr val="2456A6"/>
                </a:solidFill>
                <a:latin typeface="Calibri"/>
              </a:rPr>
              <a:t>L4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2999232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100">
                <a:solidFill>
                  <a:srgbClr val="1A2330"/>
                </a:solidFill>
                <a:latin typeface="Calibri"/>
              </a:rPr>
              <a:t>Codebase Intel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86000" y="2999232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100">
                <a:solidFill>
                  <a:srgbClr val="1A2330"/>
                </a:solidFill>
                <a:latin typeface="Calibri"/>
              </a:rPr>
              <a:t>graphify · understand-anything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06640" y="2999232"/>
            <a:ext cx="4389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100">
                <a:solidFill>
                  <a:srgbClr val="8A99AA"/>
                </a:solidFill>
                <a:latin typeface="Calibri"/>
              </a:rPr>
              <a:t>~52.7K* · ~55-65K*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3419856"/>
            <a:ext cx="11548872" cy="457200"/>
          </a:xfrm>
          <a:prstGeom prst="rect">
            <a:avLst/>
          </a:prstGeom>
          <a:solidFill>
            <a:srgbClr val="E8EF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3474720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200">
                <a:solidFill>
                  <a:srgbClr val="2456A6"/>
                </a:solidFill>
                <a:latin typeface="Calibri"/>
              </a:rPr>
              <a:t>L5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347472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100">
                <a:solidFill>
                  <a:srgbClr val="1A2330"/>
                </a:solidFill>
                <a:latin typeface="Calibri"/>
              </a:rPr>
              <a:t>PKM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86000" y="3474720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100">
                <a:solidFill>
                  <a:srgbClr val="1A2330"/>
                </a:solidFill>
                <a:latin typeface="Calibri"/>
              </a:rPr>
              <a:t>obsidian-skills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40" y="3474720"/>
            <a:ext cx="4389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100">
                <a:solidFill>
                  <a:srgbClr val="8A99AA"/>
                </a:solidFill>
                <a:latin typeface="Calibri"/>
              </a:rPr>
              <a:t>~35K*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3895344"/>
            <a:ext cx="11548872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3950208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200">
                <a:solidFill>
                  <a:srgbClr val="2456A6"/>
                </a:solidFill>
                <a:latin typeface="Calibri"/>
              </a:rPr>
              <a:t>L1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3950208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100">
                <a:solidFill>
                  <a:srgbClr val="1A2330"/>
                </a:solidFill>
                <a:latin typeface="Calibri"/>
              </a:rPr>
              <a:t>Spec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86000" y="3950208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100">
                <a:solidFill>
                  <a:srgbClr val="1A2330"/>
                </a:solidFill>
                <a:latin typeface="Calibri"/>
              </a:rPr>
              <a:t>spec-kit · openspec · gsd-core (fork seguro)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06640" y="3950208"/>
            <a:ext cx="4389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100">
                <a:solidFill>
                  <a:srgbClr val="8A99AA"/>
                </a:solidFill>
                <a:latin typeface="Calibri"/>
              </a:rPr>
              <a:t>~106K* · ~51K* · ~4.2K*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" y="4370832"/>
            <a:ext cx="11548872" cy="457200"/>
          </a:xfrm>
          <a:prstGeom prst="rect">
            <a:avLst/>
          </a:prstGeom>
          <a:solidFill>
            <a:srgbClr val="E8EF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4425696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200">
                <a:solidFill>
                  <a:srgbClr val="2456A6"/>
                </a:solidFill>
                <a:latin typeface="Calibri"/>
              </a:rPr>
              <a:t>L2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" y="4425696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100">
                <a:solidFill>
                  <a:srgbClr val="1A2330"/>
                </a:solidFill>
                <a:latin typeface="Calibri"/>
              </a:rPr>
              <a:t>Workflow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286000" y="4425696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100">
                <a:solidFill>
                  <a:srgbClr val="1A2330"/>
                </a:solidFill>
                <a:latin typeface="Calibri"/>
              </a:rPr>
              <a:t>superpowers · gstack · ECC · cli-anything · paul/carl/seed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06640" y="4425696"/>
            <a:ext cx="4389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100">
                <a:solidFill>
                  <a:srgbClr val="8A99AA"/>
                </a:solidFill>
                <a:latin typeface="Calibri"/>
              </a:rPr>
              <a:t>~147K* · ~101K* · ~188K* · ~42-44K*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4846320"/>
            <a:ext cx="11548872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901184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200">
                <a:solidFill>
                  <a:srgbClr val="2456A6"/>
                </a:solidFill>
                <a:latin typeface="Calibri"/>
              </a:rPr>
              <a:t>L6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0120" y="490118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100">
                <a:solidFill>
                  <a:srgbClr val="1A2330"/>
                </a:solidFill>
                <a:latin typeface="Calibri"/>
              </a:rPr>
              <a:t>Design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286000" y="4901184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100">
                <a:solidFill>
                  <a:srgbClr val="1A2330"/>
                </a:solidFill>
                <a:latin typeface="Calibri"/>
              </a:rPr>
              <a:t>open-design · open-codesign · impeccable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06640" y="4901184"/>
            <a:ext cx="4389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100">
                <a:solidFill>
                  <a:srgbClr val="8A99AA"/>
                </a:solidFill>
                <a:latin typeface="Calibri"/>
              </a:rPr>
              <a:t>~49K* · ~7K* · ~30K*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0040" y="5321808"/>
            <a:ext cx="11548872" cy="457200"/>
          </a:xfrm>
          <a:prstGeom prst="rect">
            <a:avLst/>
          </a:prstGeom>
          <a:solidFill>
            <a:srgbClr val="E8EF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11480" y="5376672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200">
                <a:solidFill>
                  <a:srgbClr val="2456A6"/>
                </a:solidFill>
                <a:latin typeface="Calibri"/>
              </a:rPr>
              <a:t>L7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" y="5376672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100">
                <a:solidFill>
                  <a:srgbClr val="1A2330"/>
                </a:solidFill>
                <a:latin typeface="Calibri"/>
              </a:rPr>
              <a:t>Slides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286000" y="5376672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100">
                <a:solidFill>
                  <a:srgbClr val="1A2330"/>
                </a:solidFill>
                <a:latin typeface="Calibri"/>
              </a:rPr>
              <a:t>slidev · frontend-slides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06640" y="5376672"/>
            <a:ext cx="4389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100">
                <a:solidFill>
                  <a:srgbClr val="8A99AA"/>
                </a:solidFill>
                <a:latin typeface="Calibri"/>
              </a:rPr>
              <a:t>~47K* · ~19K*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20040" y="5797296"/>
            <a:ext cx="11548872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5852160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200">
                <a:solidFill>
                  <a:srgbClr val="2456A6"/>
                </a:solidFill>
                <a:latin typeface="Calibri"/>
              </a:rPr>
              <a:t>L3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0120" y="585216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100">
                <a:solidFill>
                  <a:srgbClr val="1A2330"/>
                </a:solidFill>
                <a:latin typeface="Calibri"/>
              </a:rPr>
              <a:t>Amplifier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286000" y="5852160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100">
                <a:solidFill>
                  <a:srgbClr val="1A2330"/>
                </a:solidFill>
                <a:latin typeface="Calibri"/>
              </a:rPr>
              <a:t>ruflo · bmad-method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06640" y="5852160"/>
            <a:ext cx="4389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100">
                <a:solidFill>
                  <a:srgbClr val="8A99AA"/>
                </a:solidFill>
                <a:latin typeface="Calibri"/>
              </a:rPr>
              <a:t>~54-62K* · ~48-50K*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5760" y="623620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1" sz="1000">
                <a:solidFill>
                  <a:srgbClr val="8A99AA"/>
                </a:solidFill>
                <a:latin typeface="Calibri"/>
              </a:rPr>
              <a:t>* = ordem de grandeza datada 2026-06-27 (valor de API); nao e precisao — tratado como sinal de magnitude.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3152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2800">
                <a:solidFill>
                  <a:srgbClr val="FFFFFF"/>
                </a:solidFill>
                <a:latin typeface="Calibri"/>
              </a:rPr>
              <a:t>Gate de supply-chain: dois experts EXCLUIDOS — o gate e parte da tese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58064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A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83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000">
                <a:solidFill>
                  <a:srgbClr val="8A99AA"/>
                </a:solidFill>
                <a:latin typeface="Calibri"/>
              </a:rPr>
              <a:t>Emilson Moraes (ekson73) · Vek · 2026-06-27 · Agentic MoE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07008"/>
            <a:ext cx="5532120" cy="4389120"/>
          </a:xfrm>
          <a:prstGeom prst="rect">
            <a:avLst/>
          </a:prstGeom>
          <a:solidFill>
            <a:srgbClr val="FFF0F0"/>
          </a:solidFill>
          <a:ln w="19050"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98448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500">
                <a:solidFill>
                  <a:srgbClr val="BB0000"/>
                </a:solidFill>
                <a:latin typeface="Calibri"/>
              </a:rPr>
              <a:t>GSD $GSD — EXCLUIDO (CONFIRMADO)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55648"/>
            <a:ext cx="5212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400">
                <a:solidFill>
                  <a:srgbClr val="1A2330"/>
                </a:solidFill>
                <a:latin typeface="Calibri"/>
              </a:rPr>
              <a:t>gsd-build/get-shit-done · original ~63K*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400">
                <a:solidFill>
                  <a:srgbClr val="1A2330"/>
                </a:solidFill>
                <a:latin typeface="Calibri"/>
              </a:rPr>
              <a:t>Token Solana $GSD: rug-pull ~2026-04 (~US$500K)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400">
                <a:solidFill>
                  <a:srgbClr val="1A2330"/>
                </a:solidFill>
                <a:latin typeface="Calibri"/>
              </a:rPr>
              <a:t>Fundador 'TACHES' deletou contas; pacotes npm ORIGINAIS ainda publicados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400">
                <a:solidFill>
                  <a:srgbClr val="1A2330"/>
                </a:solidFill>
                <a:latin typeface="Calibri"/>
              </a:rPr>
              <a:t>Pacotes concedem acesso shell/bash profundo -&gt; risco de update malicioso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400">
                <a:solidFill>
                  <a:srgbClr val="1A2330"/>
                </a:solidFill>
                <a:latin typeface="Calibri"/>
              </a:rPr>
              <a:t>Substituto seguro: open-gsd/gsd-core (fork auditado, ~4.2K*)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1207008"/>
            <a:ext cx="5897880" cy="4389120"/>
          </a:xfrm>
          <a:prstGeom prst="rect">
            <a:avLst/>
          </a:prstGeom>
          <a:solidFill>
            <a:srgbClr val="FFF5E6"/>
          </a:solidFill>
          <a:ln w="19050">
            <a:solidFill>
              <a:srgbClr val="CC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1298448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500">
                <a:solidFill>
                  <a:srgbClr val="AA5500"/>
                </a:solidFill>
                <a:latin typeface="Calibri"/>
              </a:rPr>
              <a:t>MemPalace — EXCLUIDO/FLAGGED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755648"/>
            <a:ext cx="5577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400">
                <a:solidFill>
                  <a:srgbClr val="1A2330"/>
                </a:solidFill>
                <a:latin typeface="Calibri"/>
              </a:rPr>
              <a:t>milla-jovovich/mempalace · ~42K* em ~2 meses (alegado)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400">
                <a:solidFill>
                  <a:srgbClr val="1A2330"/>
                </a:solidFill>
                <a:latin typeface="Calibri"/>
              </a:rPr>
              <a:t>Alegacao de compra de estrelas — nao auditada, NAO PROVADA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400">
                <a:solidFill>
                  <a:srgbClr val="1A2330"/>
                </a:solidFill>
                <a:latin typeface="Calibri"/>
              </a:rPr>
              <a:t>Benchmark '96.6% LongMemEval' — nao reproduzivel de forma independente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400">
                <a:solidFill>
                  <a:srgbClr val="1A2330"/>
                </a:solidFill>
                <a:latin typeface="Calibri"/>
              </a:rPr>
              <a:t>Exclusao por CAUTELA do gate, nao por fraude comprovada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400">
                <a:solidFill>
                  <a:srgbClr val="1A2330"/>
                </a:solidFill>
                <a:latin typeface="Calibri"/>
              </a:rPr>
              <a:t>Substituto: mem0 (benchmark memory-benchmarks reproduzivel)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5779008"/>
            <a:ext cx="115488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1" sz="1100">
                <a:solidFill>
                  <a:srgbClr val="8A99AA"/>
                </a:solidFill>
                <a:latin typeface="Calibri"/>
              </a:rPr>
              <a:t>Contexto: ~13% de pacotes agent-skill com vulns criticas [UNVERIFIED]. Isso fundamenta tratar 'velocidade de estrela' como sinal, nao prova.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3152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2800">
                <a:solidFill>
                  <a:srgbClr val="FFFFFF"/>
                </a:solidFill>
                <a:latin typeface="Calibri"/>
              </a:rPr>
              <a:t>Honestidade epistemica: estrelas divergentes tratadas como ordem de grandeza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58064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A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83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000">
                <a:solidFill>
                  <a:srgbClr val="8A99AA"/>
                </a:solidFill>
                <a:latin typeface="Calibri"/>
              </a:rPr>
              <a:t>Emilson Moraes (ekson73) · Vek · 2026-06-27 · Agentic MoE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07008"/>
            <a:ext cx="6492240" cy="5029200"/>
          </a:xfrm>
          <a:prstGeom prst="rect">
            <a:avLst/>
          </a:prstGeom>
          <a:solidFill>
            <a:srgbClr val="FFFFFF"/>
          </a:solidFill>
          <a:ln w="10160">
            <a:solidFill>
              <a:srgbClr val="245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98448"/>
            <a:ext cx="6217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400">
                <a:solidFill>
                  <a:srgbClr val="2456A6"/>
                </a:solidFill>
                <a:latin typeface="Calibri"/>
              </a:rPr>
              <a:t>Divergencias reconciliadas (2026-06-27)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709928"/>
            <a:ext cx="6492240" cy="274320"/>
          </a:xfrm>
          <a:prstGeom prst="rect">
            <a:avLst/>
          </a:prstGeom>
          <a:solidFill>
            <a:srgbClr val="245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728216"/>
            <a:ext cx="1005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000">
                <a:solidFill>
                  <a:srgbClr val="FFFFFF"/>
                </a:solidFill>
                <a:latin typeface="Calibri"/>
              </a:rPr>
              <a:t>Expert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728216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000">
                <a:solidFill>
                  <a:srgbClr val="FFFFFF"/>
                </a:solidFill>
                <a:latin typeface="Calibri"/>
              </a:rPr>
              <a:t>Fontes divergentes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0" y="1728216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000">
                <a:solidFill>
                  <a:srgbClr val="FFFFFF"/>
                </a:solidFill>
                <a:latin typeface="Calibri"/>
              </a:rPr>
              <a:t>Canonico adotado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1984248"/>
            <a:ext cx="6492240" cy="649224"/>
          </a:xfrm>
          <a:prstGeom prst="rect">
            <a:avLst/>
          </a:prstGeom>
          <a:solidFill>
            <a:srgbClr val="E8EF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2057400"/>
            <a:ext cx="1005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200">
                <a:solidFill>
                  <a:srgbClr val="1A2330"/>
                </a:solidFill>
                <a:latin typeface="Calibri"/>
              </a:rPr>
              <a:t>ECC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205740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100">
                <a:solidFill>
                  <a:srgbClr val="1A2330"/>
                </a:solidFill>
                <a:latin typeface="Calibri"/>
              </a:rPr>
              <a:t>~188K (API) x ~222K (busca) x '182K+' (README)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05740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100">
                <a:solidFill>
                  <a:srgbClr val="2456A6"/>
                </a:solidFill>
                <a:latin typeface="Calibri"/>
              </a:rPr>
              <a:t>Adotado: ~188K [sec]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651760"/>
            <a:ext cx="6492240" cy="6492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2724912"/>
            <a:ext cx="1005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200">
                <a:solidFill>
                  <a:srgbClr val="1A2330"/>
                </a:solidFill>
                <a:latin typeface="Calibri"/>
              </a:rPr>
              <a:t>superpowers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2724912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100">
                <a:solidFill>
                  <a:srgbClr val="1A2330"/>
                </a:solidFill>
                <a:latin typeface="Calibri"/>
              </a:rPr>
              <a:t>~240K (v5) x ~147K (API)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2724912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100">
                <a:solidFill>
                  <a:srgbClr val="2456A6"/>
                </a:solidFill>
                <a:latin typeface="Calibri"/>
              </a:rPr>
              <a:t>Adotado: ~147K [sec]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3319272"/>
            <a:ext cx="6492240" cy="649224"/>
          </a:xfrm>
          <a:prstGeom prst="rect">
            <a:avLst/>
          </a:prstGeom>
          <a:solidFill>
            <a:srgbClr val="E8EF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3392424"/>
            <a:ext cx="1005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200">
                <a:solidFill>
                  <a:srgbClr val="1A2330"/>
                </a:solidFill>
                <a:latin typeface="Calibri"/>
              </a:rPr>
              <a:t>karpathy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392424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100">
                <a:solidFill>
                  <a:srgbClr val="1A2330"/>
                </a:solidFill>
                <a:latin typeface="Calibri"/>
              </a:rPr>
              <a:t>154K (API) x 183K (pagina)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3392424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100">
                <a:solidFill>
                  <a:srgbClr val="2456A6"/>
                </a:solidFill>
                <a:latin typeface="Calibri"/>
              </a:rPr>
              <a:t>Adotado: ~154-183K faixa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3986784"/>
            <a:ext cx="6492240" cy="6492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4059936"/>
            <a:ext cx="1005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200">
                <a:solidFill>
                  <a:srgbClr val="1A2330"/>
                </a:solidFill>
                <a:latin typeface="Calibri"/>
              </a:rPr>
              <a:t>cognee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4059936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100">
                <a:solidFill>
                  <a:srgbClr val="1A2330"/>
                </a:solidFill>
                <a:latin typeface="Calibri"/>
              </a:rPr>
              <a:t>17.4K (API) x 23.3K (pagina)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00600" y="4059936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100">
                <a:solidFill>
                  <a:srgbClr val="2456A6"/>
                </a:solidFill>
                <a:latin typeface="Calibri"/>
              </a:rPr>
              <a:t>Adotado: ~17-23K faixa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4654296"/>
            <a:ext cx="6492240" cy="649224"/>
          </a:xfrm>
          <a:prstGeom prst="rect">
            <a:avLst/>
          </a:prstGeom>
          <a:solidFill>
            <a:srgbClr val="E8EF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27448"/>
            <a:ext cx="1005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200">
                <a:solidFill>
                  <a:srgbClr val="1A2330"/>
                </a:solidFill>
                <a:latin typeface="Calibri"/>
              </a:rPr>
              <a:t>graphify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3040" y="472744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100">
                <a:solidFill>
                  <a:srgbClr val="1A2330"/>
                </a:solidFill>
                <a:latin typeface="Calibri"/>
              </a:rPr>
              <a:t>52.7K (API) x ~69K (sec)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00600" y="4727448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100">
                <a:solidFill>
                  <a:srgbClr val="2456A6"/>
                </a:solidFill>
                <a:latin typeface="Calibri"/>
              </a:rPr>
              <a:t>Adotado: ~52-57K faixa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" y="5321808"/>
            <a:ext cx="6492240" cy="6492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5394960"/>
            <a:ext cx="1005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200">
                <a:solidFill>
                  <a:srgbClr val="1A2330"/>
                </a:solidFill>
                <a:latin typeface="Calibri"/>
              </a:rPr>
              <a:t>ruflo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63040" y="539496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100">
                <a:solidFill>
                  <a:srgbClr val="1A2330"/>
                </a:solidFill>
                <a:latin typeface="Calibri"/>
              </a:rPr>
              <a:t>54.6K (API) x 61.7K (pagina)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00600" y="539496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100">
                <a:solidFill>
                  <a:srgbClr val="2456A6"/>
                </a:solidFill>
                <a:latin typeface="Calibri"/>
              </a:rPr>
              <a:t>Adotado: ~54-62K faixa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49440" y="1207008"/>
            <a:ext cx="4892040" cy="5029200"/>
          </a:xfrm>
          <a:prstGeom prst="rect">
            <a:avLst/>
          </a:prstGeom>
          <a:solidFill>
            <a:srgbClr val="E8EFF9"/>
          </a:solidFill>
          <a:ln w="10160">
            <a:solidFill>
              <a:srgbClr val="245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86600" y="129844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400">
                <a:solidFill>
                  <a:srgbClr val="2456A6"/>
                </a:solidFill>
                <a:latin typeface="Calibri"/>
              </a:rPr>
              <a:t>Principios adotados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600" y="173736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>
                <a:solidFill>
                  <a:srgbClr val="1A2330"/>
                </a:solidFill>
                <a:latin typeface="Calibri"/>
              </a:rPr>
              <a:t>Todo count e de 2026-06-27 — ordem-de-magnitude, nao precisao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>
                <a:solidFill>
                  <a:srgbClr val="1A2330"/>
                </a:solidFill>
                <a:latin typeface="Calibri"/>
              </a:rPr>
              <a:t>Counts extraordinarios (ECC ~188K, spec-kit ~106K, superpowers ~147K) reportados sem editorializar mas sinalizados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>
                <a:solidFill>
                  <a:srgbClr val="1A2330"/>
                </a:solidFill>
                <a:latin typeface="Calibri"/>
              </a:rPr>
              <a:t>Flags [sec]/[UNVERIFIED] herdadas das fases anteriores sao PRESERVADAS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>
                <a:solidFill>
                  <a:srgbClr val="1A2330"/>
                </a:solidFill>
                <a:latin typeface="Calibri"/>
              </a:rPr>
              <a:t>Correcoes de licenca: BMAD=MIT (confirmado); karpathy=sem LICENSE file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>
                <a:solidFill>
                  <a:srgbClr val="1A2330"/>
                </a:solidFill>
                <a:latin typeface="Calibri"/>
              </a:rPr>
              <a:t>Repos rivalizando os maiores do GitHub em ~1 ano merecem ceticismo de magnitude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3152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2800">
                <a:solidFill>
                  <a:srgbClr val="FFFFFF"/>
                </a:solidFill>
                <a:latin typeface="Calibri"/>
              </a:rPr>
              <a:t>3 incompatibilidades que importam: escolha UM por slot, nao empilhe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58064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A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83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000">
                <a:solidFill>
                  <a:srgbClr val="8A99AA"/>
                </a:solidFill>
                <a:latin typeface="Calibri"/>
              </a:rPr>
              <a:t>Emilson Moraes (ekson73) · Vek · 2026-06-27 · Agentic MoE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07008"/>
            <a:ext cx="11548872" cy="1572768"/>
          </a:xfrm>
          <a:prstGeom prst="rect">
            <a:avLst/>
          </a:prstGeom>
          <a:solidFill>
            <a:srgbClr val="FFEDE8"/>
          </a:solidFill>
          <a:ln w="10160">
            <a:solidFill>
              <a:srgbClr val="245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344168"/>
            <a:ext cx="548640" cy="548640"/>
          </a:xfrm>
          <a:prstGeom prst="rect">
            <a:avLst/>
          </a:prstGeom>
          <a:solidFill>
            <a:srgbClr val="245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344168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b="1" i="0" sz="22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1298448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600">
                <a:solidFill>
                  <a:srgbClr val="2456A6"/>
                </a:solidFill>
                <a:latin typeface="Calibri"/>
              </a:rPr>
              <a:t>Instruction Layer (L2)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166420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300">
                <a:solidFill>
                  <a:srgbClr val="1A2330"/>
                </a:solidFill>
                <a:latin typeface="Courier New"/>
              </a:rPr>
              <a:t>superpowers  x  gstack  x  ECC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1344168"/>
            <a:ext cx="7223760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400">
                <a:solidFill>
                  <a:srgbClr val="1A2330"/>
                </a:solidFill>
                <a:latin typeface="Calibri"/>
              </a:rPr>
              <a:t>Tres workflows 'mandatory' simultaneos -&gt; precedencia imprevisivel + context-fracture (ECC erode janela 200k-&gt;~70k). Escolher APENAS UM.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834640"/>
            <a:ext cx="11548872" cy="1572768"/>
          </a:xfrm>
          <a:prstGeom prst="rect">
            <a:avLst/>
          </a:prstGeom>
          <a:solidFill>
            <a:srgbClr val="FFF5E0"/>
          </a:solidFill>
          <a:ln w="10160">
            <a:solidFill>
              <a:srgbClr val="245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2971800"/>
            <a:ext cx="548640" cy="548640"/>
          </a:xfrm>
          <a:prstGeom prst="rect">
            <a:avLst/>
          </a:prstGeom>
          <a:solidFill>
            <a:srgbClr val="245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9718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b="1" i="0" sz="22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2926080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600">
                <a:solidFill>
                  <a:srgbClr val="2456A6"/>
                </a:solidFill>
                <a:latin typeface="Calibri"/>
              </a:rPr>
              <a:t>Spec exclusiva (L1)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2918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300">
                <a:solidFill>
                  <a:srgbClr val="1A2330"/>
                </a:solidFill>
                <a:latin typeface="Courier New"/>
              </a:rPr>
              <a:t>spec-kit  x  openspec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2971800"/>
            <a:ext cx="7223760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400">
                <a:solidFill>
                  <a:srgbClr val="1A2330"/>
                </a:solidFill>
                <a:latin typeface="Calibri"/>
              </a:rPr>
              <a:t>Modelos de spec mutuamente exclusivos — dois diretorios + duas convencoes no mesmo repo nao convergem. CTS resolve: openspec para brownfield (0.779), spec-kit para greenfield/compliance.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462272"/>
            <a:ext cx="11548872" cy="1572768"/>
          </a:xfrm>
          <a:prstGeom prst="rect">
            <a:avLst/>
          </a:prstGeom>
          <a:solidFill>
            <a:srgbClr val="EEF5FF"/>
          </a:solidFill>
          <a:ln w="10160">
            <a:solidFill>
              <a:srgbClr val="245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4599432"/>
            <a:ext cx="548640" cy="548640"/>
          </a:xfrm>
          <a:prstGeom prst="rect">
            <a:avLst/>
          </a:prstGeom>
          <a:solidFill>
            <a:srgbClr val="245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4599432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b="1" i="0" sz="22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4553712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600">
                <a:solidFill>
                  <a:srgbClr val="2456A6"/>
                </a:solidFill>
                <a:latin typeface="Calibri"/>
              </a:rPr>
              <a:t>Backend de memoria (L8)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491947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300">
                <a:solidFill>
                  <a:srgbClr val="1A2330"/>
                </a:solidFill>
                <a:latin typeface="Courier New"/>
              </a:rPr>
              <a:t>mem0  x  letta  x  cognee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4599432"/>
            <a:ext cx="7223760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400">
                <a:solidFill>
                  <a:srgbClr val="1A2330"/>
                </a:solidFill>
                <a:latin typeface="Calibri"/>
              </a:rPr>
              <a:t>letta implica lock-in de runtime ('usar a memoria = usar o agente'). Colisao de embeddings se compartilham pgvector sem namespacing. Default: mem0 (plugavel, sem lock-in).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6089904"/>
            <a:ext cx="11548872" cy="411480"/>
          </a:xfrm>
          <a:prstGeom prst="rect">
            <a:avLst/>
          </a:prstGeom>
          <a:solidFill>
            <a:srgbClr val="1A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135624"/>
            <a:ext cx="11247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200">
                <a:solidFill>
                  <a:srgbClr val="FFFFFF"/>
                </a:solidFill>
                <a:latin typeface="Calibri"/>
              </a:rPr>
              <a:t>Bonus: open-design x open-codesign (L6) — mesma vaga + posturas de seguranca incompativeis (bypassPermissions vs loop permissionado).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3152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2800">
                <a:solidFill>
                  <a:srgbClr val="FFFFFF"/>
                </a:solidFill>
                <a:latin typeface="Calibri"/>
              </a:rPr>
              <a:t>O HUB = gating network: 5 estagios sobre substratos always-on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58064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A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83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000">
                <a:solidFill>
                  <a:srgbClr val="8A99AA"/>
                </a:solidFill>
                <a:latin typeface="Calibri"/>
              </a:rPr>
              <a:t>Emilson Moraes (ekson73) · Vek · 2026-06-27 · Agentic MoE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353312"/>
            <a:ext cx="2029968" cy="1508760"/>
          </a:xfrm>
          <a:prstGeom prst="rect">
            <a:avLst/>
          </a:prstGeom>
          <a:solidFill>
            <a:srgbClr val="1A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3192" y="1408176"/>
            <a:ext cx="18836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b="1" i="0" sz="1400">
                <a:solidFill>
                  <a:srgbClr val="FFFFFF"/>
                </a:solidFill>
                <a:latin typeface="Calibri"/>
              </a:rPr>
              <a:t>1
Intent
Classification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" y="2176272"/>
            <a:ext cx="188366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b="0" i="0" sz="1100">
                <a:solidFill>
                  <a:srgbClr val="B0C8E8"/>
                </a:solidFill>
                <a:latin typeface="Calibri"/>
              </a:rPr>
              <a:t>BMAD phase-map
-&gt; HNSW (ruflo)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86584" y="1901952"/>
            <a:ext cx="1920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b="1" i="0" sz="2200">
                <a:solidFill>
                  <a:srgbClr val="2456A6"/>
                </a:solidFill>
                <a:latin typeface="Calibri"/>
              </a:rPr>
              <a:t>-&gt;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78608" y="1353312"/>
            <a:ext cx="2029968" cy="1508760"/>
          </a:xfrm>
          <a:prstGeom prst="rect">
            <a:avLst/>
          </a:prstGeom>
          <a:solidFill>
            <a:srgbClr val="1A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51760" y="1408176"/>
            <a:ext cx="18836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b="1" i="0" sz="1400">
                <a:solidFill>
                  <a:srgbClr val="FFFFFF"/>
                </a:solidFill>
                <a:latin typeface="Calibri"/>
              </a:rPr>
              <a:t>2
CTS
Scoring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76272"/>
            <a:ext cx="188366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b="0" i="0" sz="1100">
                <a:solidFill>
                  <a:srgbClr val="B0C8E8"/>
                </a:solidFill>
                <a:latin typeface="Calibri"/>
              </a:rPr>
              <a:t>ISO x Eisenhower x risk
x scope x reversibility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1901952"/>
            <a:ext cx="1920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b="1" i="0" sz="2200">
                <a:solidFill>
                  <a:srgbClr val="2456A6"/>
                </a:solidFill>
                <a:latin typeface="Calibri"/>
              </a:rPr>
              <a:t>-&gt;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37176" y="1353312"/>
            <a:ext cx="2029968" cy="1508760"/>
          </a:xfrm>
          <a:prstGeom prst="rect">
            <a:avLst/>
          </a:prstGeom>
          <a:solidFill>
            <a:srgbClr val="1A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10328" y="1408176"/>
            <a:ext cx="18836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b="1" i="0" sz="1400">
                <a:solidFill>
                  <a:srgbClr val="FFFFFF"/>
                </a:solidFill>
                <a:latin typeface="Calibri"/>
              </a:rPr>
              <a:t>3
ISO
Tool-Gating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10328" y="2176272"/>
            <a:ext cx="188366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b="0" i="0" sz="1100">
                <a:solidFill>
                  <a:srgbClr val="B0C8E8"/>
                </a:solidFill>
                <a:latin typeface="Calibri"/>
              </a:rPr>
              <a:t>Pool &lt;=60 tok/tool
top-k lazy-schema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1901952"/>
            <a:ext cx="1920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b="1" i="0" sz="2200">
                <a:solidFill>
                  <a:srgbClr val="2456A6"/>
                </a:solidFill>
                <a:latin typeface="Calibri"/>
              </a:rPr>
              <a:t>-&gt;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95744" y="1353312"/>
            <a:ext cx="2029968" cy="1508760"/>
          </a:xfrm>
          <a:prstGeom prst="rect">
            <a:avLst/>
          </a:prstGeom>
          <a:solidFill>
            <a:srgbClr val="1A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68896" y="1408176"/>
            <a:ext cx="18836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b="1" i="0" sz="1400">
                <a:solidFill>
                  <a:srgbClr val="FFFFFF"/>
                </a:solidFill>
                <a:latin typeface="Calibri"/>
              </a:rPr>
              <a:t>4
Model
Router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68896" y="2176272"/>
            <a:ext cx="188366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b="0" i="0" sz="1100">
                <a:solidFill>
                  <a:srgbClr val="B0C8E8"/>
                </a:solidFill>
                <a:latin typeface="Calibri"/>
              </a:rPr>
              <a:t>LiteLLM (INFRA)
per-category budgets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62288" y="1901952"/>
            <a:ext cx="1920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b="1" i="0" sz="2200">
                <a:solidFill>
                  <a:srgbClr val="2456A6"/>
                </a:solidFill>
                <a:latin typeface="Calibri"/>
              </a:rPr>
              <a:t>-&gt;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354312" y="1353312"/>
            <a:ext cx="2029968" cy="1508760"/>
          </a:xfrm>
          <a:prstGeom prst="rect">
            <a:avLst/>
          </a:prstGeom>
          <a:solidFill>
            <a:srgbClr val="1A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27464" y="1408176"/>
            <a:ext cx="18836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b="1" i="0" sz="1400">
                <a:solidFill>
                  <a:srgbClr val="FFFFFF"/>
                </a:solidFill>
                <a:latin typeface="Calibri"/>
              </a:rPr>
              <a:t>5
Tool
Registry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27464" y="2176272"/>
            <a:ext cx="188366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b="0" i="0" sz="1100">
                <a:solidFill>
                  <a:srgbClr val="B0C8E8"/>
                </a:solidFill>
                <a:latin typeface="Calibri"/>
              </a:rPr>
              <a:t>YAML SSOT
26 experts + graphiti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3044952"/>
            <a:ext cx="11548872" cy="502920"/>
          </a:xfrm>
          <a:prstGeom prst="rect">
            <a:avLst/>
          </a:prstGeom>
          <a:solidFill>
            <a:srgbClr val="245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118104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b="0" i="0" sz="1300">
                <a:solidFill>
                  <a:srgbClr val="FFFFFF"/>
                </a:solidFill>
                <a:latin typeface="Calibri"/>
              </a:rPr>
              <a:t>ALWAYS-ON SUBSTRATES  ·  L0 Guardrails (karpathy-claude-md + AgentShield)  ·  L8 Memory (mem0 + graphiti)  ·  L9 Observability (langfuse, OTel)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3639312"/>
            <a:ext cx="5303520" cy="2286000"/>
          </a:xfrm>
          <a:prstGeom prst="rect">
            <a:avLst/>
          </a:prstGeom>
          <a:solidFill>
            <a:srgbClr val="E8EFF9"/>
          </a:solidFill>
          <a:ln w="10160">
            <a:solidFill>
              <a:srgbClr val="245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3730752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400">
                <a:solidFill>
                  <a:srgbClr val="2456A6"/>
                </a:solidFill>
                <a:latin typeface="Calibri"/>
              </a:rPr>
              <a:t>HITL (Human-in-the-Loop)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142232"/>
            <a:ext cx="50292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300">
                <a:solidFill>
                  <a:srgbClr val="1A2330"/>
                </a:solidFill>
                <a:latin typeface="Calibri"/>
              </a:rPr>
              <a:t>Obrigatorio em acoes IRREVERSIVEIS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300">
                <a:solidFill>
                  <a:srgbClr val="1A2330"/>
                </a:solidFill>
                <a:latin typeface="Calibri"/>
              </a:rPr>
              <a:t>Obrigatorio em risco HIGH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300">
                <a:solidFill>
                  <a:srgbClr val="1A2330"/>
                </a:solidFill>
                <a:latin typeface="Calibri"/>
              </a:rPr>
              <a:t>Obrigatorio em escolha mutuamente exclusiva de alto impacto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300">
                <a:solidFill>
                  <a:srgbClr val="1A2330"/>
                </a:solidFill>
                <a:latin typeface="Calibri"/>
              </a:rPr>
              <a:t>Ciclo: warn -&gt; correct -&gt; block (avaliado por LLM-as-judge via langfuse)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43600" y="3639312"/>
            <a:ext cx="5925312" cy="2286000"/>
          </a:xfrm>
          <a:prstGeom prst="rect">
            <a:avLst/>
          </a:prstGeom>
          <a:solidFill>
            <a:srgbClr val="E8EFF9"/>
          </a:solidFill>
          <a:ln w="10160">
            <a:solidFill>
              <a:srgbClr val="245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80760" y="373075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400">
                <a:solidFill>
                  <a:srgbClr val="2456A6"/>
                </a:solidFill>
                <a:latin typeface="Calibri"/>
              </a:rPr>
              <a:t>ISO Tool-Gating resolve o 'MCP Tax'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60" y="4142232"/>
            <a:ext cx="56692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300">
                <a:solidFill>
                  <a:srgbClr val="1A2330"/>
                </a:solidFill>
                <a:latin typeface="Calibri"/>
              </a:rPr>
              <a:t>Sem gating: soma(|schema_i|) = 10k-60k tokens/turno desperdicados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300">
                <a:solidFill>
                  <a:srgbClr val="1A2330"/>
                </a:solidFill>
                <a:latin typeface="Calibri"/>
              </a:rPr>
              <a:t>Com ISO: 60*N (pool fixo) + k*|schema| (top-k gateados)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300">
                <a:solidFill>
                  <a:srgbClr val="1A2330"/>
                </a:solidFill>
                <a:latin typeface="Calibri"/>
              </a:rPr>
              <a:t>Para N=80, k=5 -&gt; ~10k tokens vs &gt;40k sem gating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300">
                <a:solidFill>
                  <a:srgbClr val="1A2330"/>
                </a:solidFill>
                <a:latin typeface="Calibri"/>
              </a:rPr>
              <a:t>Mantem utilizacao abaixo de 70% -&gt; evita context-fracture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3152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2800">
                <a:solidFill>
                  <a:srgbClr val="FFFFFF"/>
                </a:solidFill>
                <a:latin typeface="Calibri"/>
              </a:rPr>
              <a:t>Principio DRY: reusar padroes dos experts, nao reinventar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58064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A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83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000">
                <a:solidFill>
                  <a:srgbClr val="8A99AA"/>
                </a:solidFill>
                <a:latin typeface="Calibri"/>
              </a:rPr>
              <a:t>Emilson Moraes (ekson73) · Vek · 2026-06-27 · Agentic MoE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07008"/>
            <a:ext cx="5394960" cy="2103120"/>
          </a:xfrm>
          <a:prstGeom prst="rect">
            <a:avLst/>
          </a:prstGeom>
          <a:solidFill>
            <a:srgbClr val="E8EFF9"/>
          </a:solidFill>
          <a:ln w="12700">
            <a:solidFill>
              <a:srgbClr val="245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07008"/>
            <a:ext cx="1828800" cy="320040"/>
          </a:xfrm>
          <a:prstGeom prst="rect">
            <a:avLst/>
          </a:prstGeom>
          <a:solidFill>
            <a:srgbClr val="245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" y="1225296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300">
                <a:solidFill>
                  <a:srgbClr val="FFFFFF"/>
                </a:solidFill>
                <a:latin typeface="Calibri"/>
              </a:rPr>
              <a:t>ruflo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122529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b="0" i="0" sz="1100">
                <a:solidFill>
                  <a:srgbClr val="8A99AA"/>
                </a:solidFill>
                <a:latin typeface="Calibri"/>
              </a:rPr>
              <a:t>~54-62K*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591056"/>
            <a:ext cx="51755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400">
                <a:solidFill>
                  <a:srgbClr val="1A2330"/>
                </a:solidFill>
                <a:latin typeface="Calibri"/>
              </a:rPr>
              <a:t>Queen-&gt;Topology + Trust-Score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1975104"/>
            <a:ext cx="5175504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200">
                <a:solidFill>
                  <a:srgbClr val="1A2330"/>
                </a:solidFill>
                <a:latin typeface="Calibri"/>
              </a:rPr>
              <a:t>O meta-routing do ruflo (HNSW dispatch, 314 MCP tools, learning-loop RETRIEVE-&gt;JUDGE-&gt;DISTILL-&gt;CONSOLIDATE) e IMPORTADO verbatim. O trust_score (0.4*success + 0.2*uptime + 0.2*threat + 0.2*integrity) alimenta o CTS diretamente.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16168" y="1207008"/>
            <a:ext cx="5394960" cy="2103120"/>
          </a:xfrm>
          <a:prstGeom prst="rect">
            <a:avLst/>
          </a:prstGeom>
          <a:solidFill>
            <a:srgbClr val="E8EFF9"/>
          </a:solidFill>
          <a:ln w="12700">
            <a:solidFill>
              <a:srgbClr val="245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16168" y="1207008"/>
            <a:ext cx="1828800" cy="320040"/>
          </a:xfrm>
          <a:prstGeom prst="rect">
            <a:avLst/>
          </a:prstGeom>
          <a:solidFill>
            <a:srgbClr val="245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1225296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300">
                <a:solidFill>
                  <a:srgbClr val="FFFFFF"/>
                </a:solidFill>
                <a:latin typeface="Calibri"/>
              </a:rPr>
              <a:t>BMAD Method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48088" y="122529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b="0" i="0" sz="1100">
                <a:solidFill>
                  <a:srgbClr val="8A99AA"/>
                </a:solidFill>
                <a:latin typeface="Calibri"/>
              </a:rPr>
              <a:t>~48-50K*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25896" y="1591056"/>
            <a:ext cx="51755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400">
                <a:solidFill>
                  <a:srgbClr val="1A2330"/>
                </a:solidFill>
                <a:latin typeface="Calibri"/>
              </a:rPr>
              <a:t>Persona-&gt;Phase (gating simbolico barato)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25896" y="1975104"/>
            <a:ext cx="5175504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200">
                <a:solidFill>
                  <a:srgbClr val="1A2330"/>
                </a:solidFill>
                <a:latin typeface="Calibri"/>
              </a:rPr>
              <a:t>O mapeamento BMAD (fase_SDLC -&gt; persona) e usado como classificador de Intent de primeira linha — barato, simbolico, sem embedding. So sobe para HNSW em ambiguidade. Licenca MIT confirmada.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511296"/>
            <a:ext cx="5394960" cy="2103120"/>
          </a:xfrm>
          <a:prstGeom prst="rect">
            <a:avLst/>
          </a:prstGeom>
          <a:solidFill>
            <a:srgbClr val="E8EFF9"/>
          </a:solidFill>
          <a:ln w="12700">
            <a:solidFill>
              <a:srgbClr val="245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0040" y="3511296"/>
            <a:ext cx="1828800" cy="320040"/>
          </a:xfrm>
          <a:prstGeom prst="rect">
            <a:avLst/>
          </a:prstGeom>
          <a:solidFill>
            <a:srgbClr val="245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3192" y="3529584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300">
                <a:solidFill>
                  <a:srgbClr val="FFFFFF"/>
                </a:solidFill>
                <a:latin typeface="Calibri"/>
              </a:rPr>
              <a:t>ECC NanoClaw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51960" y="352958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b="0" i="0" sz="1100">
                <a:solidFill>
                  <a:srgbClr val="8A99AA"/>
                </a:solidFill>
                <a:latin typeface="Calibri"/>
              </a:rPr>
              <a:t>~188K*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" y="3895344"/>
            <a:ext cx="51755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400">
                <a:solidFill>
                  <a:srgbClr val="1A2330"/>
                </a:solidFill>
                <a:latin typeface="Calibri"/>
              </a:rPr>
              <a:t>Gating O(1) + AgentShield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" y="4279392"/>
            <a:ext cx="5175504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200">
                <a:solidFill>
                  <a:srgbClr val="1A2330"/>
                </a:solidFill>
                <a:latin typeface="Calibri"/>
              </a:rPr>
              <a:t>NanoClaw: hot-load / lazy-schema = carregar schema completo apenas quando a tool e promovida (identico ao Tool-Attention do HUB). AgentShield (102 rules) roda em PreToolUse como scanner L0 de supply-chain.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16168" y="3511296"/>
            <a:ext cx="5394960" cy="2103120"/>
          </a:xfrm>
          <a:prstGeom prst="rect">
            <a:avLst/>
          </a:prstGeom>
          <a:solidFill>
            <a:srgbClr val="E8EFF9"/>
          </a:solidFill>
          <a:ln w="12700">
            <a:solidFill>
              <a:srgbClr val="245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16168" y="3511296"/>
            <a:ext cx="1828800" cy="320040"/>
          </a:xfrm>
          <a:prstGeom prst="rect">
            <a:avLst/>
          </a:prstGeom>
          <a:solidFill>
            <a:srgbClr val="245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89320" y="3529584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300">
                <a:solidFill>
                  <a:srgbClr val="FFFFFF"/>
                </a:solidFill>
                <a:latin typeface="Calibri"/>
              </a:rPr>
              <a:t>Tool-Attention (ISO)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48088" y="352958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b="0" i="0" sz="1100">
                <a:solidFill>
                  <a:srgbClr val="8A99AA"/>
                </a:solidFill>
                <a:latin typeface="Calibri"/>
              </a:rPr>
              <a:t>Padrao ECC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25896" y="3895344"/>
            <a:ext cx="51755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400">
                <a:solidFill>
                  <a:srgbClr val="1A2330"/>
                </a:solidFill>
                <a:latin typeface="Calibri"/>
              </a:rPr>
              <a:t>Pool permanente &lt;=60 tok/tool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25896" y="4279392"/>
            <a:ext cx="5175504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200">
                <a:solidFill>
                  <a:srgbClr val="1A2330"/>
                </a:solidFill>
                <a:latin typeface="Calibri"/>
              </a:rPr>
              <a:t>Padrao de atencao gateada sparse top-k softmax: pool de summaries fixo + promocao lazy de schema completo so para top-k. Elimina o 'MCP Tax' mantendo utilizacao &lt;70%.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" y="5888736"/>
            <a:ext cx="115488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b="1" i="0" sz="1400">
                <a:solidFill>
                  <a:srgbClr val="2456A6"/>
                </a:solidFill>
                <a:latin typeface="Calibri"/>
              </a:rPr>
              <a:t>'Reusar, nao reinventar' — cada padrao tem lineage rastreavel nos experts INCLUDED.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3152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2800">
                <a:solidFill>
                  <a:srgbClr val="FFFFFF"/>
                </a:solidFill>
                <a:latin typeface="Calibri"/>
              </a:rPr>
              <a:t>Cheat-sheet de roteamento: Eisenhower x risco -&gt; stack recomendado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58064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A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83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000">
                <a:solidFill>
                  <a:srgbClr val="8A99AA"/>
                </a:solidFill>
                <a:latin typeface="Calibri"/>
              </a:rPr>
              <a:t>Emilson Moraes (ekson73) · Vek · 2026-06-27 · Agentic MoE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70432"/>
            <a:ext cx="11548872" cy="329184"/>
          </a:xfrm>
          <a:prstGeom prst="rect">
            <a:avLst/>
          </a:prstGeom>
          <a:solidFill>
            <a:srgbClr val="245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207008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100">
                <a:solidFill>
                  <a:srgbClr val="FFFFFF"/>
                </a:solidFill>
                <a:latin typeface="Calibri"/>
              </a:rPr>
              <a:t>Quadrante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20700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100">
                <a:solidFill>
                  <a:srgbClr val="FFFFFF"/>
                </a:solidFill>
                <a:latin typeface="Calibri"/>
              </a:rPr>
              <a:t>Risco·Escopo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1207008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100">
                <a:solidFill>
                  <a:srgbClr val="FFFFFF"/>
                </a:solidFill>
                <a:latin typeface="Calibri"/>
              </a:rPr>
              <a:t>Stack recomendado (substrate-first)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120700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100">
                <a:solidFill>
                  <a:srgbClr val="FFFFFF"/>
                </a:solidFill>
                <a:latin typeface="Calibri"/>
              </a:rPr>
              <a:t>Nota HITL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499616"/>
            <a:ext cx="11548872" cy="821436"/>
          </a:xfrm>
          <a:prstGeom prst="rect">
            <a:avLst/>
          </a:prstGeom>
          <a:solidFill>
            <a:srgbClr val="E8EF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1527048"/>
            <a:ext cx="1444752" cy="784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000">
                <a:solidFill>
                  <a:srgbClr val="2456A6"/>
                </a:solidFill>
                <a:latin typeface="Calibri"/>
              </a:rPr>
              <a:t>Q1 Urgente
+Importante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527048"/>
            <a:ext cx="1691640" cy="784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000">
                <a:solidFill>
                  <a:srgbClr val="1A2330"/>
                </a:solidFill>
                <a:latin typeface="Calibri"/>
              </a:rPr>
              <a:t>HIGH — incidente prod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1527048"/>
            <a:ext cx="5257800" cy="784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000">
                <a:solidFill>
                  <a:srgbClr val="1A2330"/>
                </a:solidFill>
                <a:latin typeface="Courier New"/>
              </a:rPr>
              <a:t>L0 base+karpathy · L8 mem0 · L9 langfuse -&gt; graphify(L4) -&gt; gsd-core|gstack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0" y="1527048"/>
            <a:ext cx="2834640" cy="784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000">
                <a:solidFill>
                  <a:srgbClr val="8A99AA"/>
                </a:solidFill>
                <a:latin typeface="Calibri"/>
              </a:rPr>
              <a:t>HITL obrigatorio — aprovacao PR + canary; fork open-gsd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339340"/>
            <a:ext cx="11548872" cy="8214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" y="2366772"/>
            <a:ext cx="1444752" cy="784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000">
                <a:solidFill>
                  <a:srgbClr val="2456A6"/>
                </a:solidFill>
                <a:latin typeface="Calibri"/>
              </a:rPr>
              <a:t>Q1 Urgente
+Importante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2366772"/>
            <a:ext cx="1691640" cy="784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000">
                <a:solidFill>
                  <a:srgbClr val="1A2330"/>
                </a:solidFill>
                <a:latin typeface="Calibri"/>
              </a:rPr>
              <a:t>MED — hotfix pontual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2366772"/>
            <a:ext cx="5257800" cy="784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000">
                <a:solidFill>
                  <a:srgbClr val="1A2330"/>
                </a:solidFill>
                <a:latin typeface="Courier New"/>
              </a:rPr>
              <a:t>L0 karpathy · L8 mem0 · L9 langfuse -&gt; openspec(L1) -&gt; superpowers(L2 TDD)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2366772"/>
            <a:ext cx="2834640" cy="784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000">
                <a:solidFill>
                  <a:srgbClr val="8A99AA"/>
                </a:solidFill>
                <a:latin typeface="Calibri"/>
              </a:rPr>
              <a:t>HITL no code-review; pular L3 (overkill)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3179064"/>
            <a:ext cx="11548872" cy="821436"/>
          </a:xfrm>
          <a:prstGeom prst="rect">
            <a:avLst/>
          </a:prstGeom>
          <a:solidFill>
            <a:srgbClr val="E8EF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3206496"/>
            <a:ext cx="1444752" cy="784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000">
                <a:solidFill>
                  <a:srgbClr val="2456A6"/>
                </a:solidFill>
                <a:latin typeface="Calibri"/>
              </a:rPr>
              <a:t>Q2 Importante
nao-urgente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206496"/>
            <a:ext cx="1691640" cy="784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000">
                <a:solidFill>
                  <a:srgbClr val="1A2330"/>
                </a:solidFill>
                <a:latin typeface="Calibri"/>
              </a:rPr>
              <a:t>LOW-MED — greenfield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80" y="3206496"/>
            <a:ext cx="5257800" cy="784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000">
                <a:solidFill>
                  <a:srgbClr val="1A2330"/>
                </a:solidFill>
                <a:latin typeface="Courier New"/>
              </a:rPr>
              <a:t>substratos -&gt; seed(ideacao) -&gt; spec-kit|openspec -&gt; superpowers -&gt; open-codesign -&gt; frontend-slides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3206496"/>
            <a:ext cx="2834640" cy="784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000">
                <a:solidFill>
                  <a:srgbClr val="8A99AA"/>
                </a:solidFill>
                <a:latin typeface="Calibri"/>
              </a:rPr>
              <a:t>HITL na escolha spec-kit vs openspec + aprovacao do plano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4018788"/>
            <a:ext cx="11548872" cy="8214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" y="4046220"/>
            <a:ext cx="1444752" cy="784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000">
                <a:solidFill>
                  <a:srgbClr val="2456A6"/>
                </a:solidFill>
                <a:latin typeface="Calibri"/>
              </a:rPr>
              <a:t>Q2 Importante
nao-urgente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4046220"/>
            <a:ext cx="1691640" cy="784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000">
                <a:solidFill>
                  <a:srgbClr val="1A2330"/>
                </a:solidFill>
                <a:latin typeface="Calibri"/>
              </a:rPr>
              <a:t>MED — refactor legado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4046220"/>
            <a:ext cx="5257800" cy="784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000">
                <a:solidFill>
                  <a:srgbClr val="1A2330"/>
                </a:solidFill>
                <a:latin typeface="Courier New"/>
              </a:rPr>
              <a:t>L0+base · L8 cognee(graph) -&gt; understand-anything(L4) -&gt; graphify -&gt; openspec -&gt; superpowers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20" y="4046220"/>
            <a:ext cx="2834640" cy="784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000">
                <a:solidFill>
                  <a:srgbClr val="8A99AA"/>
                </a:solidFill>
                <a:latin typeface="Calibri"/>
              </a:rPr>
              <a:t>HITL no code-review; CTS: openspec 0.779 vs spec-kit 0.590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4858512"/>
            <a:ext cx="11548872" cy="821436"/>
          </a:xfrm>
          <a:prstGeom prst="rect">
            <a:avLst/>
          </a:prstGeom>
          <a:solidFill>
            <a:srgbClr val="E8EF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4048" y="4885944"/>
            <a:ext cx="1444752" cy="784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000">
                <a:solidFill>
                  <a:srgbClr val="2456A6"/>
                </a:solidFill>
                <a:latin typeface="Calibri"/>
              </a:rPr>
              <a:t>Q3 Urgente
nao-importante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4885944"/>
            <a:ext cx="1691640" cy="784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000">
                <a:solidFill>
                  <a:srgbClr val="1A2330"/>
                </a:solidFill>
                <a:latin typeface="Calibri"/>
              </a:rPr>
              <a:t>LOW — slides/design rapido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11880" y="4885944"/>
            <a:ext cx="5257800" cy="784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000">
                <a:solidFill>
                  <a:srgbClr val="1A2330"/>
                </a:solidFill>
                <a:latin typeface="Courier New"/>
              </a:rPr>
              <a:t>L0 karpathy · substratos -&gt; open-codesign|open-design(L6) -&gt; frontend-slides|slidev(L7)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1120" y="4885944"/>
            <a:ext cx="2834640" cy="784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000">
                <a:solidFill>
                  <a:srgbClr val="8A99AA"/>
                </a:solidFill>
                <a:latin typeface="Calibri"/>
              </a:rPr>
              <a:t>HITL baixo/opcional; sandbox se open-design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5698236"/>
            <a:ext cx="11548872" cy="8214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4048" y="5725668"/>
            <a:ext cx="1444752" cy="784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000">
                <a:solidFill>
                  <a:srgbClr val="2456A6"/>
                </a:solidFill>
                <a:latin typeface="Calibri"/>
              </a:rPr>
              <a:t>Q4 nem-nem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725668"/>
            <a:ext cx="1691640" cy="784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000">
                <a:solidFill>
                  <a:srgbClr val="1A2330"/>
                </a:solidFill>
                <a:latin typeface="Calibri"/>
              </a:rPr>
              <a:t>LOW — PoC descartavel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11880" y="5725668"/>
            <a:ext cx="5257800" cy="784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000">
                <a:solidFill>
                  <a:srgbClr val="1A2330"/>
                </a:solidFill>
                <a:latin typeface="Courier New"/>
              </a:rPr>
              <a:t>L0 karpathy (so) · L8 mem0 efemero -&gt; cli-anything|superpowers leve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61120" y="5725668"/>
            <a:ext cx="2834640" cy="784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000">
                <a:solidFill>
                  <a:srgbClr val="8A99AA"/>
                </a:solidFill>
                <a:latin typeface="Calibri"/>
              </a:rPr>
              <a:t>Pular L3; sem HITL; nao persistir aprendizado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3152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2800">
                <a:solidFill>
                  <a:srgbClr val="FFFFFF"/>
                </a:solidFill>
                <a:latin typeface="Calibri"/>
              </a:rPr>
              <a:t>Proximos passos: 5 acoes concretas para tornar o HUB operacional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58064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A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83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000">
                <a:solidFill>
                  <a:srgbClr val="8A99AA"/>
                </a:solidFill>
                <a:latin typeface="Calibri"/>
              </a:rPr>
              <a:t>Emilson Moraes (ekson73) · Vek · 2026-06-27 · Agentic MoE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07008"/>
            <a:ext cx="11548872" cy="932688"/>
          </a:xfrm>
          <a:prstGeom prst="rect">
            <a:avLst/>
          </a:prstGeom>
          <a:solidFill>
            <a:srgbClr val="E8EFF9"/>
          </a:solidFill>
          <a:ln w="10160">
            <a:solidFill>
              <a:srgbClr val="245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07008"/>
            <a:ext cx="475488" cy="932688"/>
          </a:xfrm>
          <a:prstGeom prst="rect">
            <a:avLst/>
          </a:prstGeom>
          <a:solidFill>
            <a:srgbClr val="245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408176"/>
            <a:ext cx="47548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b="1" i="0" sz="22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26187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400">
                <a:solidFill>
                  <a:srgbClr val="2456A6"/>
                </a:solidFill>
                <a:latin typeface="Calibri"/>
              </a:rPr>
              <a:t>Tool Registry YAML (SSOT)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636776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200">
                <a:solidFill>
                  <a:srgbClr val="1A2330"/>
                </a:solidFill>
                <a:latin typeface="Calibri"/>
              </a:rPr>
              <a:t>Implementar registros completos para os 26 experts INCLUDED + graphiti (apenas 4 expandidos). Campos: layer, role, summary&lt;=60tok, risk_tier, security_status, mechanisms[]. Lanca o MCP server maos-hub com hub.route / hub.score / hub.registry.get / hub.gate.approve / hub.trace.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194560"/>
            <a:ext cx="1154887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245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2194560"/>
            <a:ext cx="475488" cy="932688"/>
          </a:xfrm>
          <a:prstGeom prst="rect">
            <a:avLst/>
          </a:prstGeom>
          <a:solidFill>
            <a:srgbClr val="245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2395728"/>
            <a:ext cx="47548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b="1" i="0" sz="22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24942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400">
                <a:solidFill>
                  <a:srgbClr val="2456A6"/>
                </a:solidFill>
                <a:latin typeface="Calibri"/>
              </a:rPr>
              <a:t>Substratos mem0 + langfuse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624328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200">
                <a:solidFill>
                  <a:srgbClr val="1A2330"/>
                </a:solidFill>
                <a:latin typeface="Calibri"/>
              </a:rPr>
              <a:t>Ativar mem0 e langfuse como defaults L8/L9 no multi-agent-os. Configurar namespacing por tenant. Integrar graphiti para memoria temporal. Emitir spans OTLP de toda rota para langfuse.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182112"/>
            <a:ext cx="11548872" cy="932688"/>
          </a:xfrm>
          <a:prstGeom prst="rect">
            <a:avLst/>
          </a:prstGeom>
          <a:solidFill>
            <a:srgbClr val="E8EFF9"/>
          </a:solidFill>
          <a:ln w="10160">
            <a:solidFill>
              <a:srgbClr val="245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3182112"/>
            <a:ext cx="475488" cy="932688"/>
          </a:xfrm>
          <a:prstGeom prst="rect">
            <a:avLst/>
          </a:prstGeom>
          <a:solidFill>
            <a:srgbClr val="245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3383280"/>
            <a:ext cx="47548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b="1" i="0" sz="22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236976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400">
                <a:solidFill>
                  <a:srgbClr val="2456A6"/>
                </a:solidFill>
                <a:latin typeface="Calibri"/>
              </a:rPr>
              <a:t>AgentShield — scanner de supply-chain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61188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200">
                <a:solidFill>
                  <a:srgbClr val="1A2330"/>
                </a:solidFill>
                <a:latin typeface="Calibri"/>
              </a:rPr>
              <a:t>Rodar AgentShield (102 rules, ECC) sobre experts INCLUDED com canal de instrucao pesado (ECC, gstack, carl, base). Mapear hooks/MCP-risk reais. Verificar alegacao ~13% vulns criticas em pacotes agent-skill [UNVERIFIED].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169664"/>
            <a:ext cx="1154887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245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4169664"/>
            <a:ext cx="475488" cy="932688"/>
          </a:xfrm>
          <a:prstGeom prst="rect">
            <a:avLst/>
          </a:prstGeom>
          <a:solidFill>
            <a:srgbClr val="245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4370832"/>
            <a:ext cx="47548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b="1" i="0" sz="22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22452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400">
                <a:solidFill>
                  <a:srgbClr val="2456A6"/>
                </a:solidFill>
                <a:latin typeface="Calibri"/>
              </a:rPr>
              <a:t>Calibrar pesos CTS e thresholds ISO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599432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200">
                <a:solidFill>
                  <a:srgbClr val="1A2330"/>
                </a:solidFill>
                <a:latin typeface="Calibri"/>
              </a:rPr>
              <a:t>Calibrar empiricamente pesos default (w_iso=0.30, w_trust=0.30, w_risk=0.50) e limiares via matriz 6x3 (6 task-families x low/med/high risk). Medir A/B com vs sem ISO tool-gating (token cost + % context-fracture acima de 70%).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5157216"/>
            <a:ext cx="11548872" cy="932688"/>
          </a:xfrm>
          <a:prstGeom prst="rect">
            <a:avLst/>
          </a:prstGeom>
          <a:solidFill>
            <a:srgbClr val="E8EFF9"/>
          </a:solidFill>
          <a:ln w="10160">
            <a:solidFill>
              <a:srgbClr val="245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" y="5157216"/>
            <a:ext cx="475488" cy="932688"/>
          </a:xfrm>
          <a:prstGeom prst="rect">
            <a:avLst/>
          </a:prstGeom>
          <a:solidFill>
            <a:srgbClr val="245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5358384"/>
            <a:ext cx="47548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b="1" i="0" sz="220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21208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1400">
                <a:solidFill>
                  <a:srgbClr val="2456A6"/>
                </a:solidFill>
                <a:latin typeface="Calibri"/>
              </a:rPr>
              <a:t>Re-coletar estrelas + confirmar licencas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586984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200">
                <a:solidFill>
                  <a:srgbClr val="1A2330"/>
                </a:solidFill>
                <a:latin typeface="Calibri"/>
              </a:rPr>
              <a:t>Re-rodar coleta com token GitHub autenticado para eliminar [sec]: ECC, superpowers, mem0, cognee, graphify. Confirmar NOASSERTION de langfuse ee/, phoenix, litellm — e license=null de seed/base/karpathy. TTL de revisao: 2026-09-27.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88952" cy="54864"/>
          </a:xfrm>
          <a:prstGeom prst="rect">
            <a:avLst/>
          </a:prstGeom>
          <a:solidFill>
            <a:srgbClr val="245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3200">
                <a:solidFill>
                  <a:srgbClr val="FFFFFF"/>
                </a:solidFill>
                <a:latin typeface="Cambria"/>
              </a:rPr>
              <a:t>O ecossistema agentic nao tem vencedor unico 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3200">
                <a:solidFill>
                  <a:srgbClr val="B0C4DE"/>
                </a:solidFill>
                <a:latin typeface="Cambria"/>
              </a:rPr>
              <a:t>e uma STACK roteada como Mixture-of-Experts,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585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3200">
                <a:solidFill>
                  <a:srgbClr val="2456A6"/>
                </a:solidFill>
                <a:latin typeface="Cambria"/>
              </a:rPr>
              <a:t>onde o HUB e o gating network.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83464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600">
                <a:solidFill>
                  <a:srgbClr val="8A99AA"/>
                </a:solidFill>
                <a:latin typeface="Calibri"/>
              </a:rPr>
              <a:t>Material completo em: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18688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1" i="0" sz="2000">
                <a:solidFill>
                  <a:srgbClr val="FFFFFF"/>
                </a:solidFill>
                <a:latin typeface="Courier New"/>
              </a:rPr>
              <a:t>research/agentic-moe-2026/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931920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400">
                <a:solidFill>
                  <a:srgbClr val="8A99AA"/>
                </a:solidFill>
                <a:latin typeface="Calibri"/>
              </a:rPr>
              <a:t>26 experts INCLUDED · 27 nos N-Tree · Fases 0-3 · 2026-06-27 · TTL revisao: 2026-09-27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5720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600">
                <a:solidFill>
                  <a:srgbClr val="FFFFFF"/>
                </a:solidFill>
                <a:latin typeface="Calibri"/>
              </a:rPr>
              <a:t>Emilson Moraes (ekson73)  ·  Vek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0" y="914400"/>
            <a:ext cx="3200400" cy="5029200"/>
          </a:xfrm>
          <a:prstGeom prst="rect">
            <a:avLst/>
          </a:prstGeom>
          <a:solidFill>
            <a:srgbClr val="245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23960" y="105156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500">
                <a:solidFill>
                  <a:srgbClr val="FFFFFF"/>
                </a:solidFill>
                <a:latin typeface="Calibri"/>
              </a:rPr>
              <a:t>-&gt; Tese: STACK MoE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3960" y="173736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500">
                <a:solidFill>
                  <a:srgbClr val="FFFFFF"/>
                </a:solidFill>
                <a:latin typeface="Calibri"/>
              </a:rPr>
              <a:t>-&gt; 26 experts mapeados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23960" y="242316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500">
                <a:solidFill>
                  <a:srgbClr val="FFFFFF"/>
                </a:solidFill>
                <a:latin typeface="Calibri"/>
              </a:rPr>
              <a:t>-&gt; Gate supply-chain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23960" y="310896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500">
                <a:solidFill>
                  <a:srgbClr val="FFFFFF"/>
                </a:solidFill>
                <a:latin typeface="Calibri"/>
              </a:rPr>
              <a:t>-&gt; HUB = gating network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23960" y="379476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500">
                <a:solidFill>
                  <a:srgbClr val="FFFFFF"/>
                </a:solidFill>
                <a:latin typeface="Calibri"/>
              </a:rPr>
              <a:t>-&gt; Substratos always-on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448056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b="0" i="0" sz="1500">
                <a:solidFill>
                  <a:srgbClr val="FFFFFF"/>
                </a:solidFill>
                <a:latin typeface="Calibri"/>
              </a:rPr>
              <a:t>-&gt; Cheat-sheet Q1-Q4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